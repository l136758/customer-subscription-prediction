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League Spartan" charset="1" panose="00000800000000000000"/>
      <p:regular r:id="rId18"/>
    </p:embeddedFont>
    <p:embeddedFont>
      <p:font typeface="Roboto Bold" charset="1" panose="02000000000000000000"/>
      <p:regular r:id="rId19"/>
    </p:embeddedFont>
    <p:embeddedFont>
      <p:font typeface="Poppins" charset="1" panose="00000500000000000000"/>
      <p:regular r:id="rId20"/>
    </p:embeddedFont>
    <p:embeddedFont>
      <p:font typeface="Poppins Medium" charset="1" panose="00000600000000000000"/>
      <p:regular r:id="rId21"/>
    </p:embeddedFont>
    <p:embeddedFont>
      <p:font typeface="Poppins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jpe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embeddings/oleObject1.bin" Type="http://schemas.openxmlformats.org/officeDocument/2006/relationships/oleObject"/><Relationship Id="rId5"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embeddings/oleObject2.bin" Type="http://schemas.openxmlformats.org/officeDocument/2006/relationships/oleObject"/><Relationship Id="rId7"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6031" y="3040336"/>
            <a:ext cx="20000061" cy="1898650"/>
          </a:xfrm>
          <a:prstGeom prst="rect">
            <a:avLst/>
          </a:prstGeom>
        </p:spPr>
        <p:txBody>
          <a:bodyPr anchor="t" rtlCol="false" tIns="0" lIns="0" bIns="0" rIns="0">
            <a:spAutoFit/>
          </a:bodyPr>
          <a:lstStyle/>
          <a:p>
            <a:pPr algn="ctr">
              <a:lnSpc>
                <a:spcPts val="7699"/>
              </a:lnSpc>
            </a:pPr>
            <a:r>
              <a:rPr lang="en-US" b="true" sz="5499">
                <a:solidFill>
                  <a:srgbClr val="004AAD"/>
                </a:solidFill>
                <a:latin typeface="League Spartan"/>
                <a:ea typeface="League Spartan"/>
                <a:cs typeface="League Spartan"/>
                <a:sym typeface="League Spartan"/>
              </a:rPr>
              <a:t>CUSTOMER SHOPPING BEHAVIOUR</a:t>
            </a:r>
          </a:p>
          <a:p>
            <a:pPr algn="ctr">
              <a:lnSpc>
                <a:spcPts val="7699"/>
              </a:lnSpc>
            </a:pPr>
          </a:p>
        </p:txBody>
      </p:sp>
      <p:grpSp>
        <p:nvGrpSpPr>
          <p:cNvPr name="Group 4" id="4"/>
          <p:cNvGrpSpPr/>
          <p:nvPr/>
        </p:nvGrpSpPr>
        <p:grpSpPr>
          <a:xfrm rot="0">
            <a:off x="-856031" y="334010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054022" y="3340100"/>
            <a:ext cx="3086100" cy="2171499"/>
            <a:chOff x="0" y="0"/>
            <a:chExt cx="812800" cy="571917"/>
          </a:xfrm>
        </p:grpSpPr>
        <p:sp>
          <p:nvSpPr>
            <p:cNvPr name="Freeform 8" id="8"/>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9" id="9"/>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3317874" y="4170001"/>
            <a:ext cx="11648344" cy="1499870"/>
          </a:xfrm>
          <a:prstGeom prst="rect">
            <a:avLst/>
          </a:prstGeom>
        </p:spPr>
        <p:txBody>
          <a:bodyPr anchor="t" rtlCol="false" tIns="0" lIns="0" bIns="0" rIns="0">
            <a:spAutoFit/>
          </a:bodyPr>
          <a:lstStyle/>
          <a:p>
            <a:pPr algn="l">
              <a:lnSpc>
                <a:spcPts val="1679"/>
              </a:lnSpc>
            </a:pPr>
          </a:p>
          <a:p>
            <a:pPr algn="ctr">
              <a:lnSpc>
                <a:spcPts val="5179"/>
              </a:lnSpc>
            </a:pPr>
            <a:r>
              <a:rPr lang="en-US" b="true" sz="3699">
                <a:solidFill>
                  <a:srgbClr val="303642"/>
                </a:solidFill>
                <a:latin typeface="Roboto Bold"/>
                <a:ea typeface="Roboto Bold"/>
                <a:cs typeface="Roboto Bold"/>
                <a:sym typeface="Roboto Bold"/>
              </a:rPr>
              <a:t>CCDS 321 - DATA MINING</a:t>
            </a:r>
          </a:p>
          <a:p>
            <a:pPr algn="ctr">
              <a:lnSpc>
                <a:spcPts val="5179"/>
              </a:lnSpc>
            </a:pPr>
          </a:p>
        </p:txBody>
      </p:sp>
      <p:sp>
        <p:nvSpPr>
          <p:cNvPr name="TextBox 11" id="11"/>
          <p:cNvSpPr txBox="true"/>
          <p:nvPr/>
        </p:nvSpPr>
        <p:spPr>
          <a:xfrm rot="0">
            <a:off x="6326713" y="5801872"/>
            <a:ext cx="5634574" cy="374625"/>
          </a:xfrm>
          <a:prstGeom prst="rect">
            <a:avLst/>
          </a:prstGeom>
        </p:spPr>
        <p:txBody>
          <a:bodyPr anchor="t" rtlCol="false" tIns="0" lIns="0" bIns="0" rIns="0">
            <a:spAutoFit/>
          </a:bodyPr>
          <a:lstStyle/>
          <a:p>
            <a:pPr algn="l">
              <a:lnSpc>
                <a:spcPts val="2976"/>
              </a:lnSpc>
              <a:spcBef>
                <a:spcPct val="0"/>
              </a:spcBef>
            </a:pPr>
            <a:r>
              <a:rPr lang="en-US" sz="2125">
                <a:solidFill>
                  <a:srgbClr val="FFFFFF"/>
                </a:solidFill>
                <a:latin typeface="Poppins"/>
                <a:ea typeface="Poppins"/>
                <a:cs typeface="Poppins"/>
                <a:sym typeface="Poppins"/>
              </a:rPr>
              <a:t>Jou</a:t>
            </a:r>
          </a:p>
        </p:txBody>
      </p:sp>
      <p:sp>
        <p:nvSpPr>
          <p:cNvPr name="TextBox 12" id="12"/>
          <p:cNvSpPr txBox="true"/>
          <p:nvPr/>
        </p:nvSpPr>
        <p:spPr>
          <a:xfrm rot="0">
            <a:off x="9497292" y="7576185"/>
            <a:ext cx="4232644" cy="2101215"/>
          </a:xfrm>
          <a:prstGeom prst="rect">
            <a:avLst/>
          </a:prstGeom>
        </p:spPr>
        <p:txBody>
          <a:bodyPr anchor="t" rtlCol="false" tIns="0" lIns="0" bIns="0" rIns="0">
            <a:spAutoFit/>
          </a:bodyPr>
          <a:lstStyle/>
          <a:p>
            <a:pPr algn="ctr">
              <a:lnSpc>
                <a:spcPts val="3359"/>
              </a:lnSpc>
            </a:pPr>
            <a:r>
              <a:rPr lang="en-US" sz="2400">
                <a:solidFill>
                  <a:srgbClr val="000000"/>
                </a:solidFill>
                <a:latin typeface="Poppins"/>
                <a:ea typeface="Poppins"/>
                <a:cs typeface="Poppins"/>
                <a:sym typeface="Poppins"/>
              </a:rPr>
              <a:t>Task 1 &amp; Task 3- Part 1</a:t>
            </a:r>
          </a:p>
          <a:p>
            <a:pPr algn="ctr">
              <a:lnSpc>
                <a:spcPts val="3359"/>
              </a:lnSpc>
            </a:pPr>
            <a:r>
              <a:rPr lang="en-US" sz="2400">
                <a:solidFill>
                  <a:srgbClr val="000000"/>
                </a:solidFill>
                <a:latin typeface="Poppins"/>
                <a:ea typeface="Poppins"/>
                <a:cs typeface="Poppins"/>
                <a:sym typeface="Poppins"/>
              </a:rPr>
              <a:t>  Task 2 &amp; Task 3- Part 2</a:t>
            </a:r>
          </a:p>
          <a:p>
            <a:pPr algn="ctr">
              <a:lnSpc>
                <a:spcPts val="3359"/>
              </a:lnSpc>
            </a:pPr>
            <a:r>
              <a:rPr lang="en-US" sz="2400">
                <a:solidFill>
                  <a:srgbClr val="000000"/>
                </a:solidFill>
                <a:latin typeface="Poppins"/>
                <a:ea typeface="Poppins"/>
                <a:cs typeface="Poppins"/>
                <a:sym typeface="Poppins"/>
              </a:rPr>
              <a:t>  Task 2 &amp; Task 3- Part 2</a:t>
            </a:r>
          </a:p>
          <a:p>
            <a:pPr algn="ctr">
              <a:lnSpc>
                <a:spcPts val="3359"/>
              </a:lnSpc>
            </a:pPr>
            <a:r>
              <a:rPr lang="en-US" sz="2400">
                <a:solidFill>
                  <a:srgbClr val="000000"/>
                </a:solidFill>
                <a:latin typeface="Poppins"/>
                <a:ea typeface="Poppins"/>
                <a:cs typeface="Poppins"/>
                <a:sym typeface="Poppins"/>
              </a:rPr>
              <a:t>Task 1 &amp; Task 3- Part 1</a:t>
            </a:r>
          </a:p>
          <a:p>
            <a:pPr algn="ctr">
              <a:lnSpc>
                <a:spcPts val="3359"/>
              </a:lnSpc>
              <a:spcBef>
                <a:spcPct val="0"/>
              </a:spcBef>
            </a:pPr>
            <a:r>
              <a:rPr lang="en-US" sz="2400">
                <a:solidFill>
                  <a:srgbClr val="000000"/>
                </a:solidFill>
                <a:latin typeface="Poppins"/>
                <a:ea typeface="Poppins"/>
                <a:cs typeface="Poppins"/>
                <a:sym typeface="Poppins"/>
              </a:rPr>
              <a:t> </a:t>
            </a:r>
          </a:p>
        </p:txBody>
      </p:sp>
      <p:sp>
        <p:nvSpPr>
          <p:cNvPr name="TextBox 13" id="13"/>
          <p:cNvSpPr txBox="true"/>
          <p:nvPr/>
        </p:nvSpPr>
        <p:spPr>
          <a:xfrm rot="0">
            <a:off x="5146470" y="6827022"/>
            <a:ext cx="1944940" cy="526521"/>
          </a:xfrm>
          <a:prstGeom prst="rect">
            <a:avLst/>
          </a:prstGeom>
        </p:spPr>
        <p:txBody>
          <a:bodyPr anchor="t" rtlCol="false" tIns="0" lIns="0" bIns="0" rIns="0">
            <a:spAutoFit/>
          </a:bodyPr>
          <a:lstStyle/>
          <a:p>
            <a:pPr algn="l">
              <a:lnSpc>
                <a:spcPts val="4121"/>
              </a:lnSpc>
              <a:spcBef>
                <a:spcPct val="0"/>
              </a:spcBef>
            </a:pPr>
            <a:r>
              <a:rPr lang="en-US" sz="2943">
                <a:solidFill>
                  <a:srgbClr val="000000"/>
                </a:solidFill>
                <a:latin typeface="Poppins"/>
                <a:ea typeface="Poppins"/>
                <a:cs typeface="Poppins"/>
                <a:sym typeface="Poppins"/>
              </a:rPr>
              <a:t>Members                             </a:t>
            </a:r>
          </a:p>
        </p:txBody>
      </p:sp>
      <p:sp>
        <p:nvSpPr>
          <p:cNvPr name="TextBox 14" id="14"/>
          <p:cNvSpPr txBox="true"/>
          <p:nvPr/>
        </p:nvSpPr>
        <p:spPr>
          <a:xfrm rot="0">
            <a:off x="4902083" y="7576185"/>
            <a:ext cx="3785564" cy="1682115"/>
          </a:xfrm>
          <a:prstGeom prst="rect">
            <a:avLst/>
          </a:prstGeom>
        </p:spPr>
        <p:txBody>
          <a:bodyPr anchor="t" rtlCol="false" tIns="0" lIns="0" bIns="0" rIns="0">
            <a:spAutoFit/>
          </a:bodyPr>
          <a:lstStyle/>
          <a:p>
            <a:pPr algn="l">
              <a:lnSpc>
                <a:spcPts val="3359"/>
              </a:lnSpc>
            </a:pPr>
            <a:r>
              <a:rPr lang="en-US" sz="2400">
                <a:solidFill>
                  <a:srgbClr val="000000"/>
                </a:solidFill>
                <a:latin typeface="Poppins"/>
                <a:ea typeface="Poppins"/>
                <a:cs typeface="Poppins"/>
                <a:sym typeface="Poppins"/>
              </a:rPr>
              <a:t>Lamees Alharthi</a:t>
            </a:r>
          </a:p>
          <a:p>
            <a:pPr algn="l">
              <a:lnSpc>
                <a:spcPts val="3359"/>
              </a:lnSpc>
            </a:pPr>
            <a:r>
              <a:rPr lang="en-US" sz="2400">
                <a:solidFill>
                  <a:srgbClr val="000000"/>
                </a:solidFill>
                <a:latin typeface="Poppins"/>
                <a:ea typeface="Poppins"/>
                <a:cs typeface="Poppins"/>
                <a:sym typeface="Poppins"/>
              </a:rPr>
              <a:t>Joudi Abdulhadi</a:t>
            </a:r>
          </a:p>
          <a:p>
            <a:pPr algn="l">
              <a:lnSpc>
                <a:spcPts val="3359"/>
              </a:lnSpc>
            </a:pPr>
            <a:r>
              <a:rPr lang="en-US" sz="2400">
                <a:solidFill>
                  <a:srgbClr val="000000"/>
                </a:solidFill>
                <a:latin typeface="Poppins"/>
                <a:ea typeface="Poppins"/>
                <a:cs typeface="Poppins"/>
                <a:sym typeface="Poppins"/>
              </a:rPr>
              <a:t>Layan Abdullah</a:t>
            </a:r>
          </a:p>
          <a:p>
            <a:pPr algn="l">
              <a:lnSpc>
                <a:spcPts val="3359"/>
              </a:lnSpc>
              <a:spcBef>
                <a:spcPct val="0"/>
              </a:spcBef>
            </a:pPr>
            <a:r>
              <a:rPr lang="en-US" sz="2400">
                <a:solidFill>
                  <a:srgbClr val="000000"/>
                </a:solidFill>
                <a:latin typeface="Poppins"/>
                <a:ea typeface="Poppins"/>
                <a:cs typeface="Poppins"/>
                <a:sym typeface="Poppins"/>
              </a:rPr>
              <a:t>Hala Alsubaie</a:t>
            </a:r>
          </a:p>
        </p:txBody>
      </p:sp>
      <p:sp>
        <p:nvSpPr>
          <p:cNvPr name="TextBox 15" id="15"/>
          <p:cNvSpPr txBox="true"/>
          <p:nvPr/>
        </p:nvSpPr>
        <p:spPr>
          <a:xfrm rot="0">
            <a:off x="8184528" y="7576185"/>
            <a:ext cx="1454107" cy="1682115"/>
          </a:xfrm>
          <a:prstGeom prst="rect">
            <a:avLst/>
          </a:prstGeom>
        </p:spPr>
        <p:txBody>
          <a:bodyPr anchor="t" rtlCol="false" tIns="0" lIns="0" bIns="0" rIns="0">
            <a:spAutoFit/>
          </a:bodyPr>
          <a:lstStyle/>
          <a:p>
            <a:pPr algn="l">
              <a:lnSpc>
                <a:spcPts val="3359"/>
              </a:lnSpc>
            </a:pPr>
            <a:r>
              <a:rPr lang="en-US" sz="2400">
                <a:solidFill>
                  <a:srgbClr val="000000"/>
                </a:solidFill>
                <a:latin typeface="Poppins"/>
                <a:ea typeface="Poppins"/>
                <a:cs typeface="Poppins"/>
                <a:sym typeface="Poppins"/>
              </a:rPr>
              <a:t/>
            </a:r>
          </a:p>
          <a:p>
            <a:pPr algn="l">
              <a:lnSpc>
                <a:spcPts val="3359"/>
              </a:lnSpc>
            </a:pPr>
            <a:r>
              <a:rPr lang="en-US" sz="2400">
                <a:solidFill>
                  <a:srgbClr val="000000"/>
                </a:solidFill>
                <a:latin typeface="Poppins"/>
                <a:ea typeface="Poppins"/>
                <a:cs typeface="Poppins"/>
                <a:sym typeface="Poppins"/>
              </a:rPr>
              <a:t/>
            </a:r>
          </a:p>
          <a:p>
            <a:pPr algn="l">
              <a:lnSpc>
                <a:spcPts val="3359"/>
              </a:lnSpc>
            </a:pPr>
            <a:r>
              <a:rPr lang="en-US" sz="2400">
                <a:solidFill>
                  <a:srgbClr val="000000"/>
                </a:solidFill>
                <a:latin typeface="Poppins"/>
                <a:ea typeface="Poppins"/>
                <a:cs typeface="Poppins"/>
                <a:sym typeface="Poppins"/>
              </a:rPr>
              <a:t/>
            </a:r>
          </a:p>
          <a:p>
            <a:pPr algn="l">
              <a:lnSpc>
                <a:spcPts val="3359"/>
              </a:lnSpc>
              <a:spcBef>
                <a:spcPct val="0"/>
              </a:spcBef>
            </a:pPr>
            <a:r>
              <a:rPr lang="en-US" sz="2400">
                <a:solidFill>
                  <a:srgbClr val="000000"/>
                </a:solidFill>
                <a:latin typeface="Poppins"/>
                <a:ea typeface="Poppins"/>
                <a:cs typeface="Poppins"/>
                <a:sym typeface="Poppins"/>
              </a:rPr>
              <a:t/>
            </a:r>
          </a:p>
        </p:txBody>
      </p:sp>
      <p:sp>
        <p:nvSpPr>
          <p:cNvPr name="TextBox 16" id="16"/>
          <p:cNvSpPr txBox="true"/>
          <p:nvPr/>
        </p:nvSpPr>
        <p:spPr>
          <a:xfrm rot="0">
            <a:off x="8425369" y="6827022"/>
            <a:ext cx="524555" cy="526521"/>
          </a:xfrm>
          <a:prstGeom prst="rect">
            <a:avLst/>
          </a:prstGeom>
        </p:spPr>
        <p:txBody>
          <a:bodyPr anchor="t" rtlCol="false" tIns="0" lIns="0" bIns="0" rIns="0">
            <a:spAutoFit/>
          </a:bodyPr>
          <a:lstStyle/>
          <a:p>
            <a:pPr algn="l">
              <a:lnSpc>
                <a:spcPts val="4121"/>
              </a:lnSpc>
              <a:spcBef>
                <a:spcPct val="0"/>
              </a:spcBef>
            </a:pPr>
            <a:r>
              <a:rPr lang="en-US" sz="2943">
                <a:solidFill>
                  <a:srgbClr val="000000"/>
                </a:solidFill>
                <a:latin typeface="Poppins"/>
                <a:ea typeface="Poppins"/>
                <a:cs typeface="Poppins"/>
                <a:sym typeface="Poppins"/>
              </a:rPr>
              <a:t> </a:t>
            </a:r>
            <a:r>
              <a:rPr lang="en-US" sz="2943">
                <a:solidFill>
                  <a:srgbClr val="000000"/>
                </a:solidFill>
                <a:latin typeface="Poppins"/>
                <a:ea typeface="Poppins"/>
                <a:cs typeface="Poppins"/>
                <a:sym typeface="Poppins"/>
              </a:rPr>
              <a:t/>
            </a:r>
          </a:p>
        </p:txBody>
      </p:sp>
      <p:sp>
        <p:nvSpPr>
          <p:cNvPr name="TextBox 17" id="17"/>
          <p:cNvSpPr txBox="true"/>
          <p:nvPr/>
        </p:nvSpPr>
        <p:spPr>
          <a:xfrm rot="0">
            <a:off x="10244652" y="6827022"/>
            <a:ext cx="2737924" cy="526521"/>
          </a:xfrm>
          <a:prstGeom prst="rect">
            <a:avLst/>
          </a:prstGeom>
        </p:spPr>
        <p:txBody>
          <a:bodyPr anchor="t" rtlCol="false" tIns="0" lIns="0" bIns="0" rIns="0">
            <a:spAutoFit/>
          </a:bodyPr>
          <a:lstStyle/>
          <a:p>
            <a:pPr algn="l">
              <a:lnSpc>
                <a:spcPts val="4121"/>
              </a:lnSpc>
              <a:spcBef>
                <a:spcPct val="0"/>
              </a:spcBef>
            </a:pPr>
            <a:r>
              <a:rPr lang="en-US" sz="2943">
                <a:solidFill>
                  <a:srgbClr val="000000"/>
                </a:solidFill>
                <a:latin typeface="Poppins"/>
                <a:ea typeface="Poppins"/>
                <a:cs typeface="Poppins"/>
                <a:sym typeface="Poppins"/>
              </a:rPr>
              <a:t>Contributions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174293" y="404608"/>
            <a:ext cx="6096004" cy="1216025"/>
          </a:xfrm>
          <a:prstGeom prst="rect">
            <a:avLst/>
          </a:prstGeom>
        </p:spPr>
        <p:txBody>
          <a:bodyPr anchor="t" rtlCol="false" tIns="0" lIns="0" bIns="0" rIns="0">
            <a:spAutoFit/>
          </a:bodyPr>
          <a:lstStyle/>
          <a:p>
            <a:pPr algn="l">
              <a:lnSpc>
                <a:spcPts val="4900"/>
              </a:lnSpc>
            </a:pPr>
            <a:r>
              <a:rPr lang="en-US" sz="3500">
                <a:solidFill>
                  <a:srgbClr val="004AAD"/>
                </a:solidFill>
                <a:latin typeface="League Spartan"/>
                <a:ea typeface="League Spartan"/>
                <a:cs typeface="League Spartan"/>
                <a:sym typeface="League Spartan"/>
              </a:rPr>
              <a:t>PROBLEM STATEMENT</a:t>
            </a:r>
          </a:p>
          <a:p>
            <a:pPr algn="l">
              <a:lnSpc>
                <a:spcPts val="4900"/>
              </a:lnSpc>
            </a:pPr>
          </a:p>
        </p:txBody>
      </p:sp>
      <p:sp>
        <p:nvSpPr>
          <p:cNvPr name="TextBox 7" id="7"/>
          <p:cNvSpPr txBox="true"/>
          <p:nvPr/>
        </p:nvSpPr>
        <p:spPr>
          <a:xfrm rot="0">
            <a:off x="1028700" y="4013200"/>
            <a:ext cx="11856432" cy="2193925"/>
          </a:xfrm>
          <a:prstGeom prst="rect">
            <a:avLst/>
          </a:prstGeom>
        </p:spPr>
        <p:txBody>
          <a:bodyPr anchor="t" rtlCol="false" tIns="0" lIns="0" bIns="0" rIns="0">
            <a:spAutoFit/>
          </a:bodyPr>
          <a:lstStyle/>
          <a:p>
            <a:pPr algn="l">
              <a:lnSpc>
                <a:spcPts val="3499"/>
              </a:lnSpc>
            </a:pPr>
            <a:r>
              <a:rPr lang="en-US" sz="2499" b="true">
                <a:solidFill>
                  <a:srgbClr val="000000"/>
                </a:solidFill>
                <a:latin typeface="Poppins Medium"/>
                <a:ea typeface="Poppins Medium"/>
                <a:cs typeface="Poppins Medium"/>
                <a:sym typeface="Poppins Medium"/>
              </a:rPr>
              <a:t>·     clean and p</a:t>
            </a:r>
            <a:r>
              <a:rPr lang="en-US" sz="2499" b="true">
                <a:solidFill>
                  <a:srgbClr val="000000"/>
                </a:solidFill>
                <a:latin typeface="Poppins Medium"/>
                <a:ea typeface="Poppins Medium"/>
                <a:cs typeface="Poppins Medium"/>
                <a:sym typeface="Poppins Medium"/>
              </a:rPr>
              <a:t>reprocess the data before modeling.</a:t>
            </a:r>
          </a:p>
          <a:p>
            <a:pPr algn="l">
              <a:lnSpc>
                <a:spcPts val="3499"/>
              </a:lnSpc>
            </a:pPr>
            <a:r>
              <a:rPr lang="en-US" sz="2499" b="true">
                <a:solidFill>
                  <a:srgbClr val="000000"/>
                </a:solidFill>
                <a:latin typeface="Poppins Medium"/>
                <a:ea typeface="Poppins Medium"/>
                <a:cs typeface="Poppins Medium"/>
                <a:sym typeface="Poppins Medium"/>
              </a:rPr>
              <a:t>·     build a model that predicts whether the customer will subscribe or not.</a:t>
            </a:r>
          </a:p>
          <a:p>
            <a:pPr algn="l">
              <a:lnSpc>
                <a:spcPts val="3499"/>
              </a:lnSpc>
            </a:pPr>
            <a:r>
              <a:rPr lang="en-US" sz="2499" b="true">
                <a:solidFill>
                  <a:srgbClr val="000000"/>
                </a:solidFill>
                <a:latin typeface="Poppins Medium"/>
                <a:ea typeface="Poppins Medium"/>
                <a:cs typeface="Poppins Medium"/>
                <a:sym typeface="Poppins Medium"/>
              </a:rPr>
              <a:t>·     evaluate the model’s performance and interpret the results.</a:t>
            </a:r>
          </a:p>
          <a:p>
            <a:pPr algn="l">
              <a:lnSpc>
                <a:spcPts val="3499"/>
              </a:lnSpc>
            </a:pPr>
          </a:p>
          <a:p>
            <a:pPr algn="l">
              <a:lnSpc>
                <a:spcPts val="3499"/>
              </a:lnSpc>
              <a:spcBef>
                <a:spcPct val="0"/>
              </a:spcBef>
            </a:pPr>
          </a:p>
        </p:txBody>
      </p:sp>
      <p:sp>
        <p:nvSpPr>
          <p:cNvPr name="TextBox 8" id="8"/>
          <p:cNvSpPr txBox="true"/>
          <p:nvPr/>
        </p:nvSpPr>
        <p:spPr>
          <a:xfrm rot="0">
            <a:off x="1174293" y="3438525"/>
            <a:ext cx="4243380" cy="1216025"/>
          </a:xfrm>
          <a:prstGeom prst="rect">
            <a:avLst/>
          </a:prstGeom>
        </p:spPr>
        <p:txBody>
          <a:bodyPr anchor="t" rtlCol="false" tIns="0" lIns="0" bIns="0" rIns="0">
            <a:spAutoFit/>
          </a:bodyPr>
          <a:lstStyle/>
          <a:p>
            <a:pPr algn="l">
              <a:lnSpc>
                <a:spcPts val="4900"/>
              </a:lnSpc>
            </a:pPr>
            <a:r>
              <a:rPr lang="en-US" sz="3500">
                <a:solidFill>
                  <a:srgbClr val="004AAD"/>
                </a:solidFill>
                <a:latin typeface="League Spartan"/>
                <a:ea typeface="League Spartan"/>
                <a:cs typeface="League Spartan"/>
                <a:sym typeface="League Spartan"/>
              </a:rPr>
              <a:t>OBJECTIVES</a:t>
            </a:r>
          </a:p>
          <a:p>
            <a:pPr algn="l">
              <a:lnSpc>
                <a:spcPts val="4900"/>
              </a:lnSpc>
            </a:pPr>
          </a:p>
        </p:txBody>
      </p:sp>
      <p:sp>
        <p:nvSpPr>
          <p:cNvPr name="TextBox 9" id="9"/>
          <p:cNvSpPr txBox="true"/>
          <p:nvPr/>
        </p:nvSpPr>
        <p:spPr>
          <a:xfrm rot="0">
            <a:off x="1174293" y="1048348"/>
            <a:ext cx="13955033" cy="1755775"/>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Poppins Medium"/>
                <a:ea typeface="Poppins Medium"/>
                <a:cs typeface="Poppins Medium"/>
                <a:sym typeface="Poppins Medium"/>
              </a:rPr>
              <a:t>Shopping businesses face challenges in understanding customer behaviour, payment preferences, and purchase frequency. This project aims to help businesses improve through data cleaning, analysis, and pattern recognition to predict customers' subscription behaviour based on Age, Gender, Shipping Type, and Item Purchased.</a:t>
            </a:r>
          </a:p>
        </p:txBody>
      </p:sp>
      <p:sp>
        <p:nvSpPr>
          <p:cNvPr name="TextBox 10" id="10"/>
          <p:cNvSpPr txBox="true"/>
          <p:nvPr/>
        </p:nvSpPr>
        <p:spPr>
          <a:xfrm rot="0">
            <a:off x="1174293" y="6130992"/>
            <a:ext cx="6096004" cy="596900"/>
          </a:xfrm>
          <a:prstGeom prst="rect">
            <a:avLst/>
          </a:prstGeom>
        </p:spPr>
        <p:txBody>
          <a:bodyPr anchor="t" rtlCol="false" tIns="0" lIns="0" bIns="0" rIns="0">
            <a:spAutoFit/>
          </a:bodyPr>
          <a:lstStyle/>
          <a:p>
            <a:pPr algn="l">
              <a:lnSpc>
                <a:spcPts val="4900"/>
              </a:lnSpc>
            </a:pPr>
            <a:r>
              <a:rPr lang="en-US" b="true" sz="3500">
                <a:solidFill>
                  <a:srgbClr val="004AAD"/>
                </a:solidFill>
                <a:latin typeface="League Spartan"/>
                <a:ea typeface="League Spartan"/>
                <a:cs typeface="League Spartan"/>
                <a:sym typeface="League Spartan"/>
              </a:rPr>
              <a:t>DATASET DESCRIPTION</a:t>
            </a:r>
          </a:p>
        </p:txBody>
      </p:sp>
      <p:sp>
        <p:nvSpPr>
          <p:cNvPr name="TextBox 11" id="11"/>
          <p:cNvSpPr txBox="true"/>
          <p:nvPr/>
        </p:nvSpPr>
        <p:spPr>
          <a:xfrm rot="0">
            <a:off x="1174293" y="7064375"/>
            <a:ext cx="11889445" cy="2193925"/>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Poppins Medium"/>
                <a:ea typeface="Poppins Medium"/>
                <a:cs typeface="Poppins Medium"/>
                <a:sym typeface="Poppins Medium"/>
              </a:rPr>
              <a:t>This dataset describes customer shopping behavior, with 5,050 observations and 17 attributes, which contains 13 categorical and 4 numerical, covering customer information, purchase details, and behavioral attributes such as age, purchase amount, and subscription status.</a:t>
            </a:r>
          </a:p>
        </p:txBody>
      </p:sp>
      <p:sp>
        <p:nvSpPr>
          <p:cNvPr name="Freeform 12" id="12"/>
          <p:cNvSpPr/>
          <p:nvPr/>
        </p:nvSpPr>
        <p:spPr>
          <a:xfrm flipH="false" flipV="false" rot="0">
            <a:off x="13574453" y="5903227"/>
            <a:ext cx="4041290" cy="4383773"/>
          </a:xfrm>
          <a:custGeom>
            <a:avLst/>
            <a:gdLst/>
            <a:ahLst/>
            <a:cxnLst/>
            <a:rect r="r" b="b" t="t" l="l"/>
            <a:pathLst>
              <a:path h="4383773" w="4041290">
                <a:moveTo>
                  <a:pt x="0" y="0"/>
                </a:moveTo>
                <a:lnTo>
                  <a:pt x="4041290" y="0"/>
                </a:lnTo>
                <a:lnTo>
                  <a:pt x="4041290" y="4383773"/>
                </a:lnTo>
                <a:lnTo>
                  <a:pt x="0" y="4383773"/>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73236" y="3110740"/>
            <a:ext cx="6368966" cy="2834540"/>
          </a:xfrm>
          <a:custGeom>
            <a:avLst/>
            <a:gdLst/>
            <a:ahLst/>
            <a:cxnLst/>
            <a:rect r="r" b="b" t="t" l="l"/>
            <a:pathLst>
              <a:path h="2834540" w="6368966">
                <a:moveTo>
                  <a:pt x="0" y="0"/>
                </a:moveTo>
                <a:lnTo>
                  <a:pt x="6368966" y="0"/>
                </a:lnTo>
                <a:lnTo>
                  <a:pt x="6368966" y="2834540"/>
                </a:lnTo>
                <a:lnTo>
                  <a:pt x="0" y="2834540"/>
                </a:lnTo>
                <a:lnTo>
                  <a:pt x="0" y="0"/>
                </a:lnTo>
                <a:close/>
              </a:path>
            </a:pathLst>
          </a:custGeom>
          <a:blipFill>
            <a:blip r:embed="rId3"/>
            <a:stretch>
              <a:fillRect l="0" t="0" r="0" b="0"/>
            </a:stretch>
          </a:blipFill>
        </p:spPr>
      </p:sp>
      <p:sp>
        <p:nvSpPr>
          <p:cNvPr name="Freeform 7" id="7"/>
          <p:cNvSpPr/>
          <p:nvPr/>
        </p:nvSpPr>
        <p:spPr>
          <a:xfrm flipH="false" flipV="false" rot="0">
            <a:off x="8723655" y="3293162"/>
            <a:ext cx="7408395" cy="2652118"/>
          </a:xfrm>
          <a:custGeom>
            <a:avLst/>
            <a:gdLst/>
            <a:ahLst/>
            <a:cxnLst/>
            <a:rect r="r" b="b" t="t" l="l"/>
            <a:pathLst>
              <a:path h="2652118" w="7408395">
                <a:moveTo>
                  <a:pt x="0" y="0"/>
                </a:moveTo>
                <a:lnTo>
                  <a:pt x="7408395" y="0"/>
                </a:lnTo>
                <a:lnTo>
                  <a:pt x="7408395" y="2652118"/>
                </a:lnTo>
                <a:lnTo>
                  <a:pt x="0" y="2652118"/>
                </a:lnTo>
                <a:lnTo>
                  <a:pt x="0" y="0"/>
                </a:lnTo>
                <a:close/>
              </a:path>
            </a:pathLst>
          </a:custGeom>
          <a:blipFill>
            <a:blip r:embed="rId4"/>
            <a:stretch>
              <a:fillRect l="0" t="0" r="0" b="0"/>
            </a:stretch>
          </a:blipFill>
        </p:spPr>
      </p:sp>
      <p:sp>
        <p:nvSpPr>
          <p:cNvPr name="TextBox 8" id="8"/>
          <p:cNvSpPr txBox="true"/>
          <p:nvPr/>
        </p:nvSpPr>
        <p:spPr>
          <a:xfrm rot="0">
            <a:off x="1174293" y="1115757"/>
            <a:ext cx="11856432" cy="483871"/>
          </a:xfrm>
          <a:prstGeom prst="rect">
            <a:avLst/>
          </a:prstGeom>
        </p:spPr>
        <p:txBody>
          <a:bodyPr anchor="t" rtlCol="false" tIns="0" lIns="0" bIns="0" rIns="0">
            <a:spAutoFit/>
          </a:bodyPr>
          <a:lstStyle/>
          <a:p>
            <a:pPr algn="l" marL="582922" indent="-291461" lvl="1">
              <a:lnSpc>
                <a:spcPts val="3779"/>
              </a:lnSpc>
              <a:spcBef>
                <a:spcPct val="0"/>
              </a:spcBef>
              <a:buAutoNum type="arabicPeriod" startAt="1"/>
            </a:pPr>
            <a:r>
              <a:rPr lang="en-US" b="true" sz="2699">
                <a:solidFill>
                  <a:srgbClr val="000000"/>
                </a:solidFill>
                <a:latin typeface="Poppins Medium"/>
                <a:ea typeface="Poppins Medium"/>
                <a:cs typeface="Poppins Medium"/>
                <a:sym typeface="Poppins Medium"/>
              </a:rPr>
              <a:t> Missing Data Handling </a:t>
            </a:r>
          </a:p>
        </p:txBody>
      </p:sp>
      <p:sp>
        <p:nvSpPr>
          <p:cNvPr name="TextBox 9" id="9"/>
          <p:cNvSpPr txBox="true"/>
          <p:nvPr/>
        </p:nvSpPr>
        <p:spPr>
          <a:xfrm rot="0">
            <a:off x="1373236" y="431800"/>
            <a:ext cx="4243380" cy="596900"/>
          </a:xfrm>
          <a:prstGeom prst="rect">
            <a:avLst/>
          </a:prstGeom>
        </p:spPr>
        <p:txBody>
          <a:bodyPr anchor="t" rtlCol="false" tIns="0" lIns="0" bIns="0" rIns="0">
            <a:spAutoFit/>
          </a:bodyPr>
          <a:lstStyle/>
          <a:p>
            <a:pPr algn="l">
              <a:lnSpc>
                <a:spcPts val="4900"/>
              </a:lnSpc>
            </a:pPr>
            <a:r>
              <a:rPr lang="en-US" sz="3500">
                <a:solidFill>
                  <a:srgbClr val="004AAD"/>
                </a:solidFill>
                <a:latin typeface="League Spartan"/>
                <a:ea typeface="League Spartan"/>
                <a:cs typeface="League Spartan"/>
                <a:sym typeface="League Spartan"/>
              </a:rPr>
              <a:t>DATA CLEANING</a:t>
            </a:r>
          </a:p>
        </p:txBody>
      </p:sp>
      <p:sp>
        <p:nvSpPr>
          <p:cNvPr name="TextBox 10" id="10"/>
          <p:cNvSpPr txBox="true"/>
          <p:nvPr/>
        </p:nvSpPr>
        <p:spPr>
          <a:xfrm rot="0">
            <a:off x="1174293" y="1853157"/>
            <a:ext cx="7549362" cy="1166372"/>
          </a:xfrm>
          <a:prstGeom prst="rect">
            <a:avLst/>
          </a:prstGeom>
        </p:spPr>
        <p:txBody>
          <a:bodyPr anchor="t" rtlCol="false" tIns="0" lIns="0" bIns="0" rIns="0">
            <a:spAutoFit/>
          </a:bodyPr>
          <a:lstStyle/>
          <a:p>
            <a:pPr algn="l" marL="470199" indent="-235099" lvl="1">
              <a:lnSpc>
                <a:spcPts val="3048"/>
              </a:lnSpc>
              <a:buFont typeface="Arial"/>
              <a:buChar char="•"/>
            </a:pPr>
            <a:r>
              <a:rPr lang="en-US" sz="2177">
                <a:solidFill>
                  <a:srgbClr val="000000"/>
                </a:solidFill>
                <a:latin typeface="Poppins"/>
                <a:ea typeface="Poppins"/>
                <a:cs typeface="Poppins"/>
                <a:sym typeface="Poppins"/>
              </a:rPr>
              <a:t>Method for numerical variables (Purchase Amount, Review Rating, Previous Purchases):</a:t>
            </a:r>
            <a:r>
              <a:rPr lang="en-US" sz="2177">
                <a:solidFill>
                  <a:srgbClr val="000000"/>
                </a:solidFill>
                <a:latin typeface="Poppins"/>
                <a:ea typeface="Poppins"/>
                <a:cs typeface="Poppins"/>
                <a:sym typeface="Poppins"/>
              </a:rPr>
              <a:t> </a:t>
            </a:r>
          </a:p>
          <a:p>
            <a:pPr algn="l">
              <a:lnSpc>
                <a:spcPts val="3048"/>
              </a:lnSpc>
            </a:pPr>
            <a:r>
              <a:rPr lang="en-US" sz="2177">
                <a:solidFill>
                  <a:srgbClr val="000000"/>
                </a:solidFill>
                <a:latin typeface="Poppins"/>
                <a:ea typeface="Poppins"/>
                <a:cs typeface="Poppins"/>
                <a:sym typeface="Poppins"/>
              </a:rPr>
              <a:t>      </a:t>
            </a:r>
            <a:r>
              <a:rPr lang="en-US" sz="2177">
                <a:solidFill>
                  <a:srgbClr val="000000"/>
                </a:solidFill>
                <a:latin typeface="Poppins"/>
                <a:ea typeface="Poppins"/>
                <a:cs typeface="Poppins"/>
                <a:sym typeface="Poppins"/>
              </a:rPr>
              <a:t>→ Mean imputation</a:t>
            </a:r>
          </a:p>
        </p:txBody>
      </p:sp>
      <p:sp>
        <p:nvSpPr>
          <p:cNvPr name="TextBox 11" id="11"/>
          <p:cNvSpPr txBox="true"/>
          <p:nvPr/>
        </p:nvSpPr>
        <p:spPr>
          <a:xfrm rot="0">
            <a:off x="9144000" y="1862682"/>
            <a:ext cx="7207562" cy="813617"/>
          </a:xfrm>
          <a:prstGeom prst="rect">
            <a:avLst/>
          </a:prstGeom>
        </p:spPr>
        <p:txBody>
          <a:bodyPr anchor="t" rtlCol="false" tIns="0" lIns="0" bIns="0" rIns="0">
            <a:spAutoFit/>
          </a:bodyPr>
          <a:lstStyle/>
          <a:p>
            <a:pPr algn="l" marL="497682" indent="-248841" lvl="1">
              <a:lnSpc>
                <a:spcPts val="3227"/>
              </a:lnSpc>
              <a:buFont typeface="Arial"/>
              <a:buChar char="•"/>
            </a:pPr>
            <a:r>
              <a:rPr lang="en-US" sz="2305">
                <a:solidFill>
                  <a:srgbClr val="000000"/>
                </a:solidFill>
                <a:latin typeface="Poppins"/>
                <a:ea typeface="Poppins"/>
                <a:cs typeface="Poppins"/>
                <a:sym typeface="Poppins"/>
              </a:rPr>
              <a:t>Method for categorical variable (Size): </a:t>
            </a:r>
          </a:p>
          <a:p>
            <a:pPr algn="l">
              <a:lnSpc>
                <a:spcPts val="3227"/>
              </a:lnSpc>
            </a:pPr>
            <a:r>
              <a:rPr lang="en-US" sz="2305">
                <a:solidFill>
                  <a:srgbClr val="000000"/>
                </a:solidFill>
                <a:latin typeface="Poppins"/>
                <a:ea typeface="Poppins"/>
                <a:cs typeface="Poppins"/>
                <a:sym typeface="Poppins"/>
              </a:rPr>
              <a:t>→ Mode imputation (most frequent value = "M")</a:t>
            </a:r>
          </a:p>
        </p:txBody>
      </p:sp>
      <p:sp>
        <p:nvSpPr>
          <p:cNvPr name="TextBox 12" id="12"/>
          <p:cNvSpPr txBox="true"/>
          <p:nvPr/>
        </p:nvSpPr>
        <p:spPr>
          <a:xfrm rot="0">
            <a:off x="1373236" y="6631365"/>
            <a:ext cx="11856432" cy="483871"/>
          </a:xfrm>
          <a:prstGeom prst="rect">
            <a:avLst/>
          </a:prstGeom>
        </p:spPr>
        <p:txBody>
          <a:bodyPr anchor="t" rtlCol="false" tIns="0" lIns="0" bIns="0" rIns="0">
            <a:spAutoFit/>
          </a:bodyPr>
          <a:lstStyle/>
          <a:p>
            <a:pPr algn="l" marL="582922" indent="-291461" lvl="1">
              <a:lnSpc>
                <a:spcPts val="3779"/>
              </a:lnSpc>
              <a:buAutoNum type="arabicPeriod" startAt="1"/>
            </a:pPr>
            <a:r>
              <a:rPr lang="en-US" b="true" sz="2699">
                <a:solidFill>
                  <a:srgbClr val="000000"/>
                </a:solidFill>
                <a:latin typeface="Poppins Medium"/>
                <a:ea typeface="Poppins Medium"/>
                <a:cs typeface="Poppins Medium"/>
                <a:sym typeface="Poppins Medium"/>
              </a:rPr>
              <a:t> Duplicate Records</a:t>
            </a:r>
          </a:p>
        </p:txBody>
      </p:sp>
      <p:sp>
        <p:nvSpPr>
          <p:cNvPr name="TextBox 13" id="13"/>
          <p:cNvSpPr txBox="true"/>
          <p:nvPr/>
        </p:nvSpPr>
        <p:spPr>
          <a:xfrm rot="0">
            <a:off x="1264726" y="7524526"/>
            <a:ext cx="5837783" cy="1263015"/>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a:solidFill>
                  <a:srgbClr val="000000"/>
                </a:solidFill>
                <a:latin typeface="Poppins Medium"/>
                <a:ea typeface="Poppins Medium"/>
                <a:cs typeface="Poppins Medium"/>
                <a:sym typeface="Poppins Medium"/>
              </a:rPr>
              <a:t>Removed 50 duplicate rows</a:t>
            </a:r>
          </a:p>
          <a:p>
            <a:pPr algn="ctr" marL="518160" indent="-259080" lvl="1">
              <a:lnSpc>
                <a:spcPts val="3359"/>
              </a:lnSpc>
              <a:buFont typeface="Arial"/>
              <a:buChar char="•"/>
            </a:pPr>
            <a:r>
              <a:rPr lang="en-US" b="true" sz="2400">
                <a:solidFill>
                  <a:srgbClr val="000000"/>
                </a:solidFill>
                <a:latin typeface="Poppins Medium"/>
                <a:ea typeface="Poppins Medium"/>
                <a:cs typeface="Poppins Medium"/>
                <a:sym typeface="Poppins Medium"/>
              </a:rPr>
              <a:t>Rows changed from 5,050 to 5,000</a:t>
            </a:r>
          </a:p>
          <a:p>
            <a:pPr algn="ctr">
              <a:lnSpc>
                <a:spcPts val="3359"/>
              </a:lnSpc>
              <a:spcBef>
                <a:spcPct val="0"/>
              </a:spcBef>
            </a:pPr>
            <a:r>
              <a:rPr lang="en-US" b="true" sz="2400">
                <a:solidFill>
                  <a:srgbClr val="000000"/>
                </a:solidFill>
                <a:latin typeface="Poppins Medium"/>
                <a:ea typeface="Poppins Medium"/>
                <a:cs typeface="Poppins Medium"/>
                <a:sym typeface="Poppins Medium"/>
              </a:rPr>
              <a: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174293" y="2404372"/>
            <a:ext cx="11856432" cy="219392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000000"/>
                </a:solidFill>
                <a:latin typeface="Poppins Medium"/>
                <a:ea typeface="Poppins Medium"/>
                <a:cs typeface="Poppins Medium"/>
                <a:sym typeface="Poppins Medium"/>
              </a:rPr>
              <a:t>Fixed repeated labels in Season and Frequency of Purchases</a:t>
            </a:r>
          </a:p>
          <a:p>
            <a:pPr algn="l" marL="539749" indent="-269875" lvl="1">
              <a:lnSpc>
                <a:spcPts val="3499"/>
              </a:lnSpc>
              <a:buFont typeface="Arial"/>
              <a:buChar char="•"/>
            </a:pPr>
            <a:r>
              <a:rPr lang="en-US" b="true" sz="2499">
                <a:solidFill>
                  <a:srgbClr val="000000"/>
                </a:solidFill>
                <a:latin typeface="Poppins Medium"/>
                <a:ea typeface="Poppins Medium"/>
                <a:cs typeface="Poppins Medium"/>
                <a:sym typeface="Poppins Medium"/>
              </a:rPr>
              <a:t>Autumn → Fall</a:t>
            </a:r>
          </a:p>
          <a:p>
            <a:pPr algn="l" marL="539749" indent="-269875" lvl="1">
              <a:lnSpc>
                <a:spcPts val="3499"/>
              </a:lnSpc>
              <a:buFont typeface="Arial"/>
              <a:buChar char="•"/>
            </a:pPr>
            <a:r>
              <a:rPr lang="en-US" b="true" sz="2499">
                <a:solidFill>
                  <a:srgbClr val="000000"/>
                </a:solidFill>
                <a:latin typeface="Poppins Medium"/>
                <a:ea typeface="Poppins Medium"/>
                <a:cs typeface="Poppins Medium"/>
                <a:sym typeface="Poppins Medium"/>
              </a:rPr>
              <a:t>Fortnightly → Bi-Weekly</a:t>
            </a:r>
          </a:p>
          <a:p>
            <a:pPr algn="l" marL="539749" indent="-269875" lvl="1">
              <a:lnSpc>
                <a:spcPts val="3499"/>
              </a:lnSpc>
              <a:buFont typeface="Arial"/>
              <a:buChar char="•"/>
            </a:pPr>
            <a:r>
              <a:rPr lang="en-US" b="true" sz="2499">
                <a:solidFill>
                  <a:srgbClr val="000000"/>
                </a:solidFill>
                <a:latin typeface="Poppins Medium"/>
                <a:ea typeface="Poppins Medium"/>
                <a:cs typeface="Poppins Medium"/>
                <a:sym typeface="Poppins Medium"/>
              </a:rPr>
              <a:t>Every 3 Months → Quarterly</a:t>
            </a:r>
          </a:p>
          <a:p>
            <a:pPr algn="l">
              <a:lnSpc>
                <a:spcPts val="3499"/>
              </a:lnSpc>
              <a:spcBef>
                <a:spcPct val="0"/>
              </a:spcBef>
            </a:pPr>
          </a:p>
        </p:txBody>
      </p:sp>
      <p:sp>
        <p:nvSpPr>
          <p:cNvPr name="TextBox 7" id="7"/>
          <p:cNvSpPr txBox="true"/>
          <p:nvPr/>
        </p:nvSpPr>
        <p:spPr>
          <a:xfrm rot="0">
            <a:off x="1342080" y="6533165"/>
            <a:ext cx="7707809" cy="1682115"/>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a:solidFill>
                  <a:srgbClr val="000000"/>
                </a:solidFill>
                <a:latin typeface="Poppins Medium"/>
                <a:ea typeface="Poppins Medium"/>
                <a:cs typeface="Poppins Medium"/>
                <a:sym typeface="Poppins Medium"/>
              </a:rPr>
              <a:t>Removed high Purchase Amount outliers</a:t>
            </a:r>
          </a:p>
          <a:p>
            <a:pPr algn="l" marL="518160" indent="-259080" lvl="1">
              <a:lnSpc>
                <a:spcPts val="3359"/>
              </a:lnSpc>
              <a:buFont typeface="Arial"/>
              <a:buChar char="•"/>
            </a:pPr>
            <a:r>
              <a:rPr lang="en-US" b="true" sz="2400">
                <a:solidFill>
                  <a:srgbClr val="000000"/>
                </a:solidFill>
                <a:latin typeface="Poppins Medium"/>
                <a:ea typeface="Poppins Medium"/>
                <a:cs typeface="Poppins Medium"/>
                <a:sym typeface="Poppins Medium"/>
              </a:rPr>
              <a:t>Outliers </a:t>
            </a:r>
            <a:r>
              <a:rPr lang="en-US" b="true" sz="2400">
                <a:solidFill>
                  <a:srgbClr val="000000"/>
                </a:solidFill>
                <a:latin typeface="Poppins Medium"/>
                <a:ea typeface="Poppins Medium"/>
                <a:cs typeface="Poppins Medium"/>
                <a:sym typeface="Poppins Medium"/>
              </a:rPr>
              <a:t>were mainly in Shirt, Shoes, and Watch</a:t>
            </a:r>
          </a:p>
          <a:p>
            <a:pPr algn="l" marL="518160" indent="-259080" lvl="1">
              <a:lnSpc>
                <a:spcPts val="3359"/>
              </a:lnSpc>
              <a:buFont typeface="Arial"/>
              <a:buChar char="•"/>
            </a:pPr>
            <a:r>
              <a:rPr lang="en-US" b="true" sz="2400">
                <a:solidFill>
                  <a:srgbClr val="000000"/>
                </a:solidFill>
                <a:latin typeface="Poppins Medium"/>
                <a:ea typeface="Poppins Medium"/>
                <a:cs typeface="Poppins Medium"/>
                <a:sym typeface="Poppins Medium"/>
              </a:rPr>
              <a:t>Final rows became 4,868</a:t>
            </a:r>
          </a:p>
          <a:p>
            <a:pPr algn="ctr">
              <a:lnSpc>
                <a:spcPts val="3359"/>
              </a:lnSpc>
              <a:spcBef>
                <a:spcPct val="0"/>
              </a:spcBef>
            </a:pPr>
          </a:p>
        </p:txBody>
      </p:sp>
      <p:sp>
        <p:nvSpPr>
          <p:cNvPr name="TextBox 8" id="8"/>
          <p:cNvSpPr txBox="true"/>
          <p:nvPr/>
        </p:nvSpPr>
        <p:spPr>
          <a:xfrm rot="0">
            <a:off x="1342080" y="1460522"/>
            <a:ext cx="11856432" cy="483870"/>
          </a:xfrm>
          <a:prstGeom prst="rect">
            <a:avLst/>
          </a:prstGeom>
        </p:spPr>
        <p:txBody>
          <a:bodyPr anchor="t" rtlCol="false" tIns="0" lIns="0" bIns="0" rIns="0">
            <a:spAutoFit/>
          </a:bodyPr>
          <a:lstStyle/>
          <a:p>
            <a:pPr algn="l" marL="582928" indent="-291464" lvl="1">
              <a:lnSpc>
                <a:spcPts val="3779"/>
              </a:lnSpc>
              <a:buAutoNum type="arabicPeriod" startAt="1"/>
            </a:pPr>
            <a:r>
              <a:rPr lang="en-US" b="true" sz="2699">
                <a:solidFill>
                  <a:srgbClr val="000000"/>
                </a:solidFill>
                <a:latin typeface="Poppins Medium"/>
                <a:ea typeface="Poppins Medium"/>
                <a:cs typeface="Poppins Medium"/>
                <a:sym typeface="Poppins Medium"/>
              </a:rPr>
              <a:t> Inconsistent Values</a:t>
            </a:r>
          </a:p>
        </p:txBody>
      </p:sp>
      <p:sp>
        <p:nvSpPr>
          <p:cNvPr name="TextBox 9" id="9"/>
          <p:cNvSpPr txBox="true"/>
          <p:nvPr/>
        </p:nvSpPr>
        <p:spPr>
          <a:xfrm rot="0">
            <a:off x="1436191" y="5785001"/>
            <a:ext cx="11856432" cy="483870"/>
          </a:xfrm>
          <a:prstGeom prst="rect">
            <a:avLst/>
          </a:prstGeom>
        </p:spPr>
        <p:txBody>
          <a:bodyPr anchor="t" rtlCol="false" tIns="0" lIns="0" bIns="0" rIns="0">
            <a:spAutoFit/>
          </a:bodyPr>
          <a:lstStyle/>
          <a:p>
            <a:pPr algn="l" marL="582928" indent="-291464" lvl="1">
              <a:lnSpc>
                <a:spcPts val="3779"/>
              </a:lnSpc>
              <a:buAutoNum type="arabicPeriod" startAt="1"/>
            </a:pPr>
            <a:r>
              <a:rPr lang="en-US" b="true" sz="2699">
                <a:solidFill>
                  <a:srgbClr val="000000"/>
                </a:solidFill>
                <a:latin typeface="Poppins Medium"/>
                <a:ea typeface="Poppins Medium"/>
                <a:cs typeface="Poppins Medium"/>
                <a:sym typeface="Poppins Medium"/>
              </a:rPr>
              <a:t> Outliers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309765" y="2056038"/>
            <a:ext cx="7422455" cy="4035960"/>
          </a:xfrm>
          <a:custGeom>
            <a:avLst/>
            <a:gdLst/>
            <a:ahLst/>
            <a:cxnLst/>
            <a:rect r="r" b="b" t="t" l="l"/>
            <a:pathLst>
              <a:path h="4035960" w="7422455">
                <a:moveTo>
                  <a:pt x="0" y="0"/>
                </a:moveTo>
                <a:lnTo>
                  <a:pt x="7422455" y="0"/>
                </a:lnTo>
                <a:lnTo>
                  <a:pt x="7422455" y="4035960"/>
                </a:lnTo>
                <a:lnTo>
                  <a:pt x="0" y="4035960"/>
                </a:lnTo>
                <a:lnTo>
                  <a:pt x="0" y="0"/>
                </a:lnTo>
                <a:close/>
              </a:path>
            </a:pathLst>
          </a:custGeom>
          <a:blipFill>
            <a:blip r:embed="rId3"/>
            <a:stretch>
              <a:fillRect l="0" t="0" r="0" b="0"/>
            </a:stretch>
          </a:blipFill>
        </p:spPr>
      </p:sp>
      <p:sp>
        <p:nvSpPr>
          <p:cNvPr name="Freeform 7" id="7"/>
          <p:cNvSpPr/>
          <p:nvPr/>
        </p:nvSpPr>
        <p:spPr>
          <a:xfrm flipH="false" flipV="false" rot="0">
            <a:off x="5039846" y="6458601"/>
            <a:ext cx="7962294" cy="4338429"/>
          </a:xfrm>
          <a:custGeom>
            <a:avLst/>
            <a:gdLst/>
            <a:ahLst/>
            <a:cxnLst/>
            <a:rect r="r" b="b" t="t" l="l"/>
            <a:pathLst>
              <a:path h="4338429" w="7962294">
                <a:moveTo>
                  <a:pt x="0" y="0"/>
                </a:moveTo>
                <a:lnTo>
                  <a:pt x="7962294" y="0"/>
                </a:lnTo>
                <a:lnTo>
                  <a:pt x="7962294" y="4338430"/>
                </a:lnTo>
                <a:lnTo>
                  <a:pt x="0" y="4338430"/>
                </a:lnTo>
                <a:lnTo>
                  <a:pt x="0" y="0"/>
                </a:lnTo>
                <a:close/>
              </a:path>
            </a:pathLst>
          </a:custGeom>
          <a:blipFill>
            <a:blip r:embed="rId4"/>
            <a:stretch>
              <a:fillRect l="0" t="0" r="0" b="0"/>
            </a:stretch>
          </a:blipFill>
        </p:spPr>
      </p:sp>
      <p:sp>
        <p:nvSpPr>
          <p:cNvPr name="TextBox 8" id="8"/>
          <p:cNvSpPr txBox="true"/>
          <p:nvPr/>
        </p:nvSpPr>
        <p:spPr>
          <a:xfrm rot="0">
            <a:off x="1174293" y="404608"/>
            <a:ext cx="7793468" cy="596900"/>
          </a:xfrm>
          <a:prstGeom prst="rect">
            <a:avLst/>
          </a:prstGeom>
        </p:spPr>
        <p:txBody>
          <a:bodyPr anchor="t" rtlCol="false" tIns="0" lIns="0" bIns="0" rIns="0">
            <a:spAutoFit/>
          </a:bodyPr>
          <a:lstStyle/>
          <a:p>
            <a:pPr algn="l">
              <a:lnSpc>
                <a:spcPts val="4900"/>
              </a:lnSpc>
            </a:pPr>
            <a:r>
              <a:rPr lang="en-US" sz="3500">
                <a:solidFill>
                  <a:srgbClr val="004AAD"/>
                </a:solidFill>
                <a:latin typeface="League Spartan"/>
                <a:ea typeface="League Spartan"/>
                <a:cs typeface="League Spartan"/>
                <a:sym typeface="League Spartan"/>
              </a:rPr>
              <a:t>EXPLORATORY DATA ANALYSIS</a:t>
            </a:r>
          </a:p>
        </p:txBody>
      </p:sp>
      <p:sp>
        <p:nvSpPr>
          <p:cNvPr name="TextBox 9" id="9"/>
          <p:cNvSpPr txBox="true"/>
          <p:nvPr/>
        </p:nvSpPr>
        <p:spPr>
          <a:xfrm rot="0">
            <a:off x="1028700" y="1140789"/>
            <a:ext cx="4243380" cy="365759"/>
          </a:xfrm>
          <a:prstGeom prst="rect">
            <a:avLst/>
          </a:prstGeom>
        </p:spPr>
        <p:txBody>
          <a:bodyPr anchor="t" rtlCol="false" tIns="0" lIns="0" bIns="0" rIns="0">
            <a:spAutoFit/>
          </a:bodyPr>
          <a:lstStyle/>
          <a:p>
            <a:pPr algn="l" marL="453398" indent="-226699" lvl="1">
              <a:lnSpc>
                <a:spcPts val="2940"/>
              </a:lnSpc>
              <a:buFont typeface="Arial"/>
              <a:buChar char="•"/>
            </a:pPr>
            <a:r>
              <a:rPr lang="en-US" sz="2100">
                <a:solidFill>
                  <a:srgbClr val="000000"/>
                </a:solidFill>
                <a:latin typeface="League Spartan"/>
                <a:ea typeface="League Spartan"/>
                <a:cs typeface="League Spartan"/>
                <a:sym typeface="League Spartan"/>
              </a:rPr>
              <a:t> BAR CHART ANALYSIS</a:t>
            </a:r>
          </a:p>
        </p:txBody>
      </p:sp>
      <p:sp>
        <p:nvSpPr>
          <p:cNvPr name="TextBox 10" id="10"/>
          <p:cNvSpPr txBox="true"/>
          <p:nvPr/>
        </p:nvSpPr>
        <p:spPr>
          <a:xfrm rot="0">
            <a:off x="1174293" y="1636303"/>
            <a:ext cx="15693400" cy="782320"/>
          </a:xfrm>
          <a:prstGeom prst="rect">
            <a:avLst/>
          </a:prstGeom>
        </p:spPr>
        <p:txBody>
          <a:bodyPr anchor="t" rtlCol="false" tIns="0" lIns="0" bIns="0" rIns="0">
            <a:spAutoFit/>
          </a:bodyPr>
          <a:lstStyle/>
          <a:p>
            <a:pPr algn="just">
              <a:lnSpc>
                <a:spcPts val="3080"/>
              </a:lnSpc>
              <a:spcBef>
                <a:spcPct val="0"/>
              </a:spcBef>
            </a:pPr>
            <a:r>
              <a:rPr lang="en-US" b="true" sz="2200">
                <a:solidFill>
                  <a:srgbClr val="000000"/>
                </a:solidFill>
                <a:latin typeface="Poppins Medium"/>
                <a:ea typeface="Poppins Medium"/>
                <a:cs typeface="Poppins Medium"/>
                <a:sym typeface="Poppins Medium"/>
              </a:rPr>
              <a:t>Bar Chart Analysis The bar chart compares the total Purchase Amount (USD) between subscribers and non-subscribers. </a:t>
            </a:r>
          </a:p>
        </p:txBody>
      </p:sp>
      <p:sp>
        <p:nvSpPr>
          <p:cNvPr name="TextBox 11" id="11"/>
          <p:cNvSpPr txBox="true"/>
          <p:nvPr/>
        </p:nvSpPr>
        <p:spPr>
          <a:xfrm rot="0">
            <a:off x="1121060" y="6210951"/>
            <a:ext cx="15693400" cy="782320"/>
          </a:xfrm>
          <a:prstGeom prst="rect">
            <a:avLst/>
          </a:prstGeom>
        </p:spPr>
        <p:txBody>
          <a:bodyPr anchor="t" rtlCol="false" tIns="0" lIns="0" bIns="0" rIns="0">
            <a:spAutoFit/>
          </a:bodyPr>
          <a:lstStyle/>
          <a:p>
            <a:pPr algn="just">
              <a:lnSpc>
                <a:spcPts val="3080"/>
              </a:lnSpc>
              <a:spcBef>
                <a:spcPct val="0"/>
              </a:spcBef>
            </a:pPr>
            <a:r>
              <a:rPr lang="en-US" b="true" sz="2200">
                <a:solidFill>
                  <a:srgbClr val="000000"/>
                </a:solidFill>
                <a:latin typeface="Poppins Medium"/>
                <a:ea typeface="Poppins Medium"/>
                <a:cs typeface="Poppins Medium"/>
                <a:sym typeface="Poppins Medium"/>
              </a:rPr>
              <a:t>The bar chart shows the total Purchase Amount for each purchase frequency category, grouped by SubscriptionStatus.</a:t>
            </a:r>
          </a:p>
        </p:txBody>
      </p:sp>
      <p:sp>
        <p:nvSpPr>
          <p:cNvPr name="TextBox 12" id="12"/>
          <p:cNvSpPr txBox="true"/>
          <p:nvPr/>
        </p:nvSpPr>
        <p:spPr>
          <a:xfrm rot="0">
            <a:off x="1028700" y="5710685"/>
            <a:ext cx="4243380" cy="365759"/>
          </a:xfrm>
          <a:prstGeom prst="rect">
            <a:avLst/>
          </a:prstGeom>
        </p:spPr>
        <p:txBody>
          <a:bodyPr anchor="t" rtlCol="false" tIns="0" lIns="0" bIns="0" rIns="0">
            <a:spAutoFit/>
          </a:bodyPr>
          <a:lstStyle/>
          <a:p>
            <a:pPr algn="l" marL="453398" indent="-226699" lvl="1">
              <a:lnSpc>
                <a:spcPts val="2940"/>
              </a:lnSpc>
              <a:buFont typeface="Arial"/>
              <a:buChar char="•"/>
            </a:pPr>
            <a:r>
              <a:rPr lang="en-US" b="true" sz="2100">
                <a:solidFill>
                  <a:srgbClr val="000000"/>
                </a:solidFill>
                <a:latin typeface="League Spartan"/>
                <a:ea typeface="League Spartan"/>
                <a:cs typeface="League Spartan"/>
                <a:sym typeface="League Spartan"/>
              </a:rPr>
              <a:t>GROUPED BAR CHART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317885" y="1115023"/>
            <a:ext cx="7652230" cy="4629599"/>
          </a:xfrm>
          <a:custGeom>
            <a:avLst/>
            <a:gdLst/>
            <a:ahLst/>
            <a:cxnLst/>
            <a:rect r="r" b="b" t="t" l="l"/>
            <a:pathLst>
              <a:path h="4629599" w="7652230">
                <a:moveTo>
                  <a:pt x="0" y="0"/>
                </a:moveTo>
                <a:lnTo>
                  <a:pt x="7652230" y="0"/>
                </a:lnTo>
                <a:lnTo>
                  <a:pt x="7652230" y="4629599"/>
                </a:lnTo>
                <a:lnTo>
                  <a:pt x="0" y="4629599"/>
                </a:lnTo>
                <a:lnTo>
                  <a:pt x="0" y="0"/>
                </a:lnTo>
                <a:close/>
              </a:path>
            </a:pathLst>
          </a:custGeom>
          <a:blipFill>
            <a:blip r:embed="rId3"/>
            <a:stretch>
              <a:fillRect l="0" t="0" r="0" b="0"/>
            </a:stretch>
          </a:blipFill>
        </p:spPr>
      </p:sp>
      <p:sp>
        <p:nvSpPr>
          <p:cNvPr name="Freeform 7" id="7"/>
          <p:cNvSpPr/>
          <p:nvPr/>
        </p:nvSpPr>
        <p:spPr>
          <a:xfrm flipH="false" flipV="false" rot="0">
            <a:off x="4222295" y="8136809"/>
            <a:ext cx="10675089" cy="787288"/>
          </a:xfrm>
          <a:custGeom>
            <a:avLst/>
            <a:gdLst/>
            <a:ahLst/>
            <a:cxnLst/>
            <a:rect r="r" b="b" t="t" l="l"/>
            <a:pathLst>
              <a:path h="787288" w="10675089">
                <a:moveTo>
                  <a:pt x="0" y="0"/>
                </a:moveTo>
                <a:lnTo>
                  <a:pt x="10675089" y="0"/>
                </a:lnTo>
                <a:lnTo>
                  <a:pt x="10675089" y="787287"/>
                </a:lnTo>
                <a:lnTo>
                  <a:pt x="0" y="787287"/>
                </a:lnTo>
                <a:lnTo>
                  <a:pt x="0" y="0"/>
                </a:lnTo>
                <a:close/>
              </a:path>
            </a:pathLst>
          </a:custGeom>
          <a:blipFill>
            <a:blip r:embed="rId4"/>
            <a:stretch>
              <a:fillRect l="0" t="0" r="0" b="0"/>
            </a:stretch>
          </a:blipFill>
        </p:spPr>
      </p:sp>
      <p:sp>
        <p:nvSpPr>
          <p:cNvPr name="TextBox 8" id="8"/>
          <p:cNvSpPr txBox="true"/>
          <p:nvPr/>
        </p:nvSpPr>
        <p:spPr>
          <a:xfrm rot="0">
            <a:off x="1174293" y="404608"/>
            <a:ext cx="6096004" cy="596900"/>
          </a:xfrm>
          <a:prstGeom prst="rect">
            <a:avLst/>
          </a:prstGeom>
        </p:spPr>
        <p:txBody>
          <a:bodyPr anchor="t" rtlCol="false" tIns="0" lIns="0" bIns="0" rIns="0">
            <a:spAutoFit/>
          </a:bodyPr>
          <a:lstStyle/>
          <a:p>
            <a:pPr algn="l">
              <a:lnSpc>
                <a:spcPts val="4900"/>
              </a:lnSpc>
            </a:pPr>
            <a:r>
              <a:rPr lang="en-US" b="true" sz="3500">
                <a:solidFill>
                  <a:srgbClr val="004AAD"/>
                </a:solidFill>
                <a:latin typeface="League Spartan"/>
                <a:ea typeface="League Spartan"/>
                <a:cs typeface="League Spartan"/>
                <a:sym typeface="League Spartan"/>
              </a:rPr>
              <a:t>EVALUATION APPROACH</a:t>
            </a:r>
          </a:p>
        </p:txBody>
      </p:sp>
      <p:sp>
        <p:nvSpPr>
          <p:cNvPr name="TextBox 9" id="9"/>
          <p:cNvSpPr txBox="true"/>
          <p:nvPr/>
        </p:nvSpPr>
        <p:spPr>
          <a:xfrm rot="0">
            <a:off x="1101496" y="7331573"/>
            <a:ext cx="6945394" cy="1198880"/>
          </a:xfrm>
          <a:prstGeom prst="rect">
            <a:avLst/>
          </a:prstGeom>
        </p:spPr>
        <p:txBody>
          <a:bodyPr anchor="t" rtlCol="false" tIns="0" lIns="0" bIns="0" rIns="0">
            <a:spAutoFit/>
          </a:bodyPr>
          <a:lstStyle/>
          <a:p>
            <a:pPr algn="l">
              <a:lnSpc>
                <a:spcPts val="3220"/>
              </a:lnSpc>
            </a:pPr>
            <a:r>
              <a:rPr lang="en-US" sz="2300" b="true">
                <a:solidFill>
                  <a:srgbClr val="000000"/>
                </a:solidFill>
                <a:latin typeface="Poppins Medium"/>
                <a:ea typeface="Poppins Medium"/>
                <a:cs typeface="Poppins Medium"/>
                <a:sym typeface="Poppins Medium"/>
              </a:rPr>
              <a:t>Composite Performance Score Formula:</a:t>
            </a:r>
          </a:p>
          <a:p>
            <a:pPr algn="l">
              <a:lnSpc>
                <a:spcPts val="3220"/>
              </a:lnSpc>
            </a:pPr>
          </a:p>
          <a:p>
            <a:pPr algn="l">
              <a:lnSpc>
                <a:spcPts val="3220"/>
              </a:lnSpc>
              <a:spcBef>
                <a:spcPct val="0"/>
              </a:spcBef>
            </a:pPr>
          </a:p>
        </p:txBody>
      </p:sp>
      <p:sp>
        <p:nvSpPr>
          <p:cNvPr name="TextBox 10" id="10"/>
          <p:cNvSpPr txBox="true"/>
          <p:nvPr/>
        </p:nvSpPr>
        <p:spPr>
          <a:xfrm rot="0">
            <a:off x="1028700" y="6481505"/>
            <a:ext cx="6799801" cy="1216025"/>
          </a:xfrm>
          <a:prstGeom prst="rect">
            <a:avLst/>
          </a:prstGeom>
        </p:spPr>
        <p:txBody>
          <a:bodyPr anchor="t" rtlCol="false" tIns="0" lIns="0" bIns="0" rIns="0">
            <a:spAutoFit/>
          </a:bodyPr>
          <a:lstStyle/>
          <a:p>
            <a:pPr algn="l">
              <a:lnSpc>
                <a:spcPts val="4900"/>
              </a:lnSpc>
            </a:pPr>
            <a:r>
              <a:rPr lang="en-US" sz="3500">
                <a:solidFill>
                  <a:srgbClr val="004AAD"/>
                </a:solidFill>
                <a:latin typeface="League Spartan"/>
                <a:ea typeface="League Spartan"/>
                <a:cs typeface="League Spartan"/>
                <a:sym typeface="League Spartan"/>
              </a:rPr>
              <a:t> COMBINATION FUNCTION</a:t>
            </a:r>
          </a:p>
          <a:p>
            <a:pPr algn="l">
              <a:lnSpc>
                <a:spcPts val="49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947664" y="3810552"/>
            <a:ext cx="6214026" cy="3304475"/>
          </a:xfrm>
          <a:custGeom>
            <a:avLst/>
            <a:gdLst/>
            <a:ahLst/>
            <a:cxnLst/>
            <a:rect r="r" b="b" t="t" l="l"/>
            <a:pathLst>
              <a:path h="3304475" w="6214026">
                <a:moveTo>
                  <a:pt x="0" y="0"/>
                </a:moveTo>
                <a:lnTo>
                  <a:pt x="6214025" y="0"/>
                </a:lnTo>
                <a:lnTo>
                  <a:pt x="6214025" y="3304475"/>
                </a:lnTo>
                <a:lnTo>
                  <a:pt x="0" y="3304475"/>
                </a:lnTo>
                <a:lnTo>
                  <a:pt x="0" y="0"/>
                </a:lnTo>
                <a:close/>
              </a:path>
            </a:pathLst>
          </a:custGeom>
          <a:blipFill>
            <a:blip r:embed="rId3"/>
            <a:stretch>
              <a:fillRect l="0" t="0" r="0" b="0"/>
            </a:stretch>
          </a:blipFill>
        </p:spPr>
      </p:sp>
      <p:sp>
        <p:nvSpPr>
          <p:cNvPr name="Freeform 7" id="7"/>
          <p:cNvSpPr/>
          <p:nvPr/>
        </p:nvSpPr>
        <p:spPr>
          <a:xfrm flipH="false" flipV="false" rot="0">
            <a:off x="9698554" y="3810552"/>
            <a:ext cx="6304290" cy="3241510"/>
          </a:xfrm>
          <a:custGeom>
            <a:avLst/>
            <a:gdLst/>
            <a:ahLst/>
            <a:cxnLst/>
            <a:rect r="r" b="b" t="t" l="l"/>
            <a:pathLst>
              <a:path h="3241510" w="6304290">
                <a:moveTo>
                  <a:pt x="0" y="0"/>
                </a:moveTo>
                <a:lnTo>
                  <a:pt x="6304290" y="0"/>
                </a:lnTo>
                <a:lnTo>
                  <a:pt x="6304290" y="3241510"/>
                </a:lnTo>
                <a:lnTo>
                  <a:pt x="0" y="3241510"/>
                </a:lnTo>
                <a:lnTo>
                  <a:pt x="0" y="0"/>
                </a:lnTo>
                <a:close/>
              </a:path>
            </a:pathLst>
          </a:custGeom>
          <a:blipFill>
            <a:blip r:embed="rId4"/>
            <a:stretch>
              <a:fillRect l="0" t="0" r="0" b="0"/>
            </a:stretch>
          </a:blipFill>
        </p:spPr>
      </p:sp>
      <p:sp>
        <p:nvSpPr>
          <p:cNvPr name="TextBox 8" id="8"/>
          <p:cNvSpPr txBox="true"/>
          <p:nvPr/>
        </p:nvSpPr>
        <p:spPr>
          <a:xfrm rot="0">
            <a:off x="1174293" y="404608"/>
            <a:ext cx="5502914" cy="596900"/>
          </a:xfrm>
          <a:prstGeom prst="rect">
            <a:avLst/>
          </a:prstGeom>
        </p:spPr>
        <p:txBody>
          <a:bodyPr anchor="t" rtlCol="false" tIns="0" lIns="0" bIns="0" rIns="0">
            <a:spAutoFit/>
          </a:bodyPr>
          <a:lstStyle/>
          <a:p>
            <a:pPr algn="l">
              <a:lnSpc>
                <a:spcPts val="4900"/>
              </a:lnSpc>
            </a:pPr>
            <a:r>
              <a:rPr lang="en-US" b="true" sz="3500">
                <a:solidFill>
                  <a:srgbClr val="004AAD"/>
                </a:solidFill>
                <a:latin typeface="League Spartan"/>
                <a:ea typeface="League Spartan"/>
                <a:cs typeface="League Spartan"/>
                <a:sym typeface="League Spartan"/>
              </a:rPr>
              <a:t>SUMMARY OF RESULTS</a:t>
            </a:r>
          </a:p>
        </p:txBody>
      </p:sp>
      <p:sp>
        <p:nvSpPr>
          <p:cNvPr name="TextBox 9" id="9"/>
          <p:cNvSpPr txBox="true"/>
          <p:nvPr/>
        </p:nvSpPr>
        <p:spPr>
          <a:xfrm rot="0">
            <a:off x="1174293" y="1048348"/>
            <a:ext cx="12180945" cy="1755775"/>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Poppins Medium"/>
                <a:ea typeface="Poppins Medium"/>
                <a:cs typeface="Poppins Medium"/>
                <a:sym typeface="Poppins Medium"/>
              </a:rPr>
              <a:t>The decision trees were evaluated using performance measures such as Accuracy, Simplicity, Lift, and Stability. The Lift values show that Entropy and Gini have the highest Lift value and CHAID has a lower value. However, the DT7 and DT11 get the best overall score of 0.841.</a:t>
            </a:r>
          </a:p>
        </p:txBody>
      </p:sp>
      <p:sp>
        <p:nvSpPr>
          <p:cNvPr name="TextBox 10" id="10"/>
          <p:cNvSpPr txBox="true"/>
          <p:nvPr/>
        </p:nvSpPr>
        <p:spPr>
          <a:xfrm rot="0">
            <a:off x="1174293" y="3078824"/>
            <a:ext cx="5502914" cy="596900"/>
          </a:xfrm>
          <a:prstGeom prst="rect">
            <a:avLst/>
          </a:prstGeom>
        </p:spPr>
        <p:txBody>
          <a:bodyPr anchor="t" rtlCol="false" tIns="0" lIns="0" bIns="0" rIns="0">
            <a:spAutoFit/>
          </a:bodyPr>
          <a:lstStyle/>
          <a:p>
            <a:pPr algn="l">
              <a:lnSpc>
                <a:spcPts val="4900"/>
              </a:lnSpc>
            </a:pPr>
            <a:r>
              <a:rPr lang="en-US" b="true" sz="3500">
                <a:solidFill>
                  <a:srgbClr val="004AAD"/>
                </a:solidFill>
                <a:latin typeface="League Spartan"/>
                <a:ea typeface="League Spartan"/>
                <a:cs typeface="League Spartan"/>
                <a:sym typeface="League Spartan"/>
              </a:rPr>
              <a:t>LIFT CHART</a:t>
            </a:r>
          </a:p>
        </p:txBody>
      </p:sp>
      <p:sp>
        <p:nvSpPr>
          <p:cNvPr name="TextBox 11" id="11"/>
          <p:cNvSpPr txBox="true"/>
          <p:nvPr/>
        </p:nvSpPr>
        <p:spPr>
          <a:xfrm rot="0">
            <a:off x="1449401" y="7972906"/>
            <a:ext cx="15145145" cy="1682115"/>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Poppins Medium"/>
                <a:ea typeface="Poppins Medium"/>
                <a:cs typeface="Poppins Medium"/>
                <a:sym typeface="Poppins Medium"/>
              </a:rPr>
              <a:t>The lift chart above compares DT1 and DT7 for the target event Subscription Status. At the second decile (20% depth), DT1 achieved a Lift of 1.91, while DT7 achieved a higher Lift of 2.1, meaning DT7 captured more subscribers than random selection. In addition, DT7 showed more consistent and stable Lift performance than DT1, indicating that DT7 is the more stable model.</a:t>
            </a:r>
          </a:p>
        </p:txBody>
      </p:sp>
      <p:sp>
        <p:nvSpPr>
          <p:cNvPr name="TextBox 12" id="12"/>
          <p:cNvSpPr txBox="true"/>
          <p:nvPr/>
        </p:nvSpPr>
        <p:spPr>
          <a:xfrm rot="0">
            <a:off x="3688485" y="7187076"/>
            <a:ext cx="4473205" cy="258397"/>
          </a:xfrm>
          <a:prstGeom prst="rect">
            <a:avLst/>
          </a:prstGeom>
        </p:spPr>
        <p:txBody>
          <a:bodyPr anchor="t" rtlCol="false" tIns="0" lIns="0" bIns="0" rIns="0">
            <a:spAutoFit/>
          </a:bodyPr>
          <a:lstStyle/>
          <a:p>
            <a:pPr algn="just">
              <a:lnSpc>
                <a:spcPts val="2032"/>
              </a:lnSpc>
              <a:spcBef>
                <a:spcPct val="0"/>
              </a:spcBef>
            </a:pPr>
            <a:r>
              <a:rPr lang="en-US" b="true" sz="1451">
                <a:solidFill>
                  <a:srgbClr val="000000"/>
                </a:solidFill>
                <a:latin typeface="Poppins Medium"/>
                <a:ea typeface="Poppins Medium"/>
                <a:cs typeface="Poppins Medium"/>
                <a:sym typeface="Poppins Medium"/>
              </a:rPr>
              <a:t>Figure 1 – Lift of Decision tree 7</a:t>
            </a:r>
          </a:p>
        </p:txBody>
      </p:sp>
      <p:sp>
        <p:nvSpPr>
          <p:cNvPr name="TextBox 13" id="13"/>
          <p:cNvSpPr txBox="true"/>
          <p:nvPr/>
        </p:nvSpPr>
        <p:spPr>
          <a:xfrm rot="0">
            <a:off x="11388518" y="7187076"/>
            <a:ext cx="4473205" cy="258397"/>
          </a:xfrm>
          <a:prstGeom prst="rect">
            <a:avLst/>
          </a:prstGeom>
        </p:spPr>
        <p:txBody>
          <a:bodyPr anchor="t" rtlCol="false" tIns="0" lIns="0" bIns="0" rIns="0">
            <a:spAutoFit/>
          </a:bodyPr>
          <a:lstStyle/>
          <a:p>
            <a:pPr algn="just">
              <a:lnSpc>
                <a:spcPts val="2032"/>
              </a:lnSpc>
              <a:spcBef>
                <a:spcPct val="0"/>
              </a:spcBef>
            </a:pPr>
            <a:r>
              <a:rPr lang="en-US" b="true" sz="1451">
                <a:solidFill>
                  <a:srgbClr val="000000"/>
                </a:solidFill>
                <a:latin typeface="Poppins Medium"/>
                <a:ea typeface="Poppins Medium"/>
                <a:cs typeface="Poppins Medium"/>
                <a:sym typeface="Poppins Medium"/>
              </a:rPr>
              <a:t>Figure 2 – Lift of Decision tree 1</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726153"/>
            <a:ext cx="12635707" cy="6748969"/>
          </a:xfrm>
          <a:prstGeom prst="rect">
            <a:avLst/>
          </a:prstGeom>
        </p:spPr>
        <p:txBody>
          <a:bodyPr anchor="t" rtlCol="false" tIns="0" lIns="0" bIns="0" rIns="0">
            <a:spAutoFit/>
          </a:bodyPr>
          <a:lstStyle/>
          <a:p>
            <a:pPr algn="l">
              <a:lnSpc>
                <a:spcPts val="4434"/>
              </a:lnSpc>
            </a:pPr>
            <a:r>
              <a:rPr lang="en-US" sz="3167" b="true">
                <a:solidFill>
                  <a:srgbClr val="000000"/>
                </a:solidFill>
                <a:latin typeface="Poppins Bold"/>
                <a:ea typeface="Poppins Bold"/>
                <a:cs typeface="Poppins Bold"/>
                <a:sym typeface="Poppins Bold"/>
              </a:rPr>
              <a:t>Parameters</a:t>
            </a:r>
            <a:r>
              <a:rPr lang="en-US" sz="3167">
                <a:solidFill>
                  <a:srgbClr val="000000"/>
                </a:solidFill>
                <a:latin typeface="Poppins"/>
                <a:ea typeface="Poppins"/>
                <a:cs typeface="Poppins"/>
                <a:sym typeface="Poppins"/>
              </a:rPr>
              <a:t>:</a:t>
            </a:r>
          </a:p>
          <a:p>
            <a:pPr algn="l" marL="683872" indent="-341936" lvl="1">
              <a:lnSpc>
                <a:spcPts val="4434"/>
              </a:lnSpc>
              <a:buFont typeface="Arial"/>
              <a:buChar char="•"/>
            </a:pPr>
            <a:r>
              <a:rPr lang="en-US" sz="3167">
                <a:solidFill>
                  <a:srgbClr val="000000"/>
                </a:solidFill>
                <a:latin typeface="Poppins"/>
                <a:ea typeface="Poppins"/>
                <a:cs typeface="Poppins"/>
                <a:sym typeface="Poppins"/>
              </a:rPr>
              <a:t> </a:t>
            </a:r>
            <a:r>
              <a:rPr lang="en-US" b="true" sz="3167">
                <a:solidFill>
                  <a:srgbClr val="000000"/>
                </a:solidFill>
                <a:latin typeface="Poppins Medium"/>
                <a:ea typeface="Poppins Medium"/>
                <a:cs typeface="Poppins Medium"/>
                <a:sym typeface="Poppins Medium"/>
              </a:rPr>
              <a:t>Criterion: GINI</a:t>
            </a:r>
          </a:p>
          <a:p>
            <a:pPr algn="l" marL="683872" indent="-341936" lvl="1">
              <a:lnSpc>
                <a:spcPts val="4434"/>
              </a:lnSpc>
              <a:buFont typeface="Arial"/>
              <a:buChar char="•"/>
            </a:pPr>
            <a:r>
              <a:rPr lang="en-US" b="true" sz="3167">
                <a:solidFill>
                  <a:srgbClr val="000000"/>
                </a:solidFill>
                <a:latin typeface="Poppins Medium"/>
                <a:ea typeface="Poppins Medium"/>
                <a:cs typeface="Poppins Medium"/>
                <a:sym typeface="Poppins Medium"/>
              </a:rPr>
              <a:t> Max Branches: 2</a:t>
            </a:r>
          </a:p>
          <a:p>
            <a:pPr algn="l" marL="683872" indent="-341936" lvl="1">
              <a:lnSpc>
                <a:spcPts val="4434"/>
              </a:lnSpc>
              <a:buFont typeface="Arial"/>
              <a:buChar char="•"/>
            </a:pPr>
            <a:r>
              <a:rPr lang="en-US" b="true" sz="3167">
                <a:solidFill>
                  <a:srgbClr val="000000"/>
                </a:solidFill>
                <a:latin typeface="Poppins Medium"/>
                <a:ea typeface="Poppins Medium"/>
                <a:cs typeface="Poppins Medium"/>
                <a:sym typeface="Poppins Medium"/>
              </a:rPr>
              <a:t> Max Depth: 4</a:t>
            </a:r>
          </a:p>
          <a:p>
            <a:pPr algn="l" marL="683872" indent="-341936" lvl="1">
              <a:lnSpc>
                <a:spcPts val="4434"/>
              </a:lnSpc>
              <a:buFont typeface="Arial"/>
              <a:buChar char="•"/>
            </a:pPr>
            <a:r>
              <a:rPr lang="en-US" b="true" sz="3167">
                <a:solidFill>
                  <a:srgbClr val="000000"/>
                </a:solidFill>
                <a:latin typeface="Poppins Medium"/>
                <a:ea typeface="Poppins Medium"/>
                <a:cs typeface="Poppins Medium"/>
                <a:sym typeface="Poppins Medium"/>
              </a:rPr>
              <a:t> Min Leaf Size: 100</a:t>
            </a:r>
          </a:p>
          <a:p>
            <a:pPr algn="l">
              <a:lnSpc>
                <a:spcPts val="4434"/>
              </a:lnSpc>
            </a:pPr>
          </a:p>
          <a:p>
            <a:pPr algn="l">
              <a:lnSpc>
                <a:spcPts val="4434"/>
              </a:lnSpc>
            </a:pPr>
            <a:r>
              <a:rPr lang="en-US" sz="3167" b="true">
                <a:solidFill>
                  <a:srgbClr val="000000"/>
                </a:solidFill>
                <a:latin typeface="Poppins Bold"/>
                <a:ea typeface="Poppins Bold"/>
                <a:cs typeface="Poppins Bold"/>
                <a:sym typeface="Poppins Bold"/>
              </a:rPr>
              <a:t>Results</a:t>
            </a:r>
            <a:r>
              <a:rPr lang="en-US" sz="3167">
                <a:solidFill>
                  <a:srgbClr val="000000"/>
                </a:solidFill>
                <a:latin typeface="Poppins"/>
                <a:ea typeface="Poppins"/>
                <a:cs typeface="Poppins"/>
                <a:sym typeface="Poppins"/>
              </a:rPr>
              <a:t>:</a:t>
            </a:r>
          </a:p>
          <a:p>
            <a:pPr algn="l" marL="683872" indent="-341936" lvl="1">
              <a:lnSpc>
                <a:spcPts val="4434"/>
              </a:lnSpc>
              <a:buFont typeface="Arial"/>
              <a:buChar char="•"/>
            </a:pPr>
            <a:r>
              <a:rPr lang="en-US" sz="3167">
                <a:solidFill>
                  <a:srgbClr val="000000"/>
                </a:solidFill>
                <a:latin typeface="Poppins"/>
                <a:ea typeface="Poppins"/>
                <a:cs typeface="Poppins"/>
                <a:sym typeface="Poppins"/>
              </a:rPr>
              <a:t>   </a:t>
            </a:r>
            <a:r>
              <a:rPr lang="en-US" b="true" sz="3167">
                <a:solidFill>
                  <a:srgbClr val="000000"/>
                </a:solidFill>
                <a:latin typeface="Poppins Medium"/>
                <a:ea typeface="Poppins Medium"/>
                <a:cs typeface="Poppins Medium"/>
                <a:sym typeface="Poppins Medium"/>
              </a:rPr>
              <a:t>Accuracy = 0.7694</a:t>
            </a:r>
          </a:p>
          <a:p>
            <a:pPr algn="l" marL="683872" indent="-341936" lvl="1">
              <a:lnSpc>
                <a:spcPts val="4434"/>
              </a:lnSpc>
              <a:buFont typeface="Arial"/>
              <a:buChar char="•"/>
            </a:pPr>
            <a:r>
              <a:rPr lang="en-US" b="true" sz="3167">
                <a:solidFill>
                  <a:srgbClr val="000000"/>
                </a:solidFill>
                <a:latin typeface="Poppins Medium"/>
                <a:ea typeface="Poppins Medium"/>
                <a:cs typeface="Poppins Medium"/>
                <a:sym typeface="Poppins Medium"/>
              </a:rPr>
              <a:t>   Simplicity = 0.9688</a:t>
            </a:r>
          </a:p>
          <a:p>
            <a:pPr algn="l" marL="683872" indent="-341936" lvl="1">
              <a:lnSpc>
                <a:spcPts val="4434"/>
              </a:lnSpc>
              <a:buFont typeface="Arial"/>
              <a:buChar char="•"/>
            </a:pPr>
            <a:r>
              <a:rPr lang="en-US" b="true" sz="3167">
                <a:solidFill>
                  <a:srgbClr val="000000"/>
                </a:solidFill>
                <a:latin typeface="Poppins Medium"/>
                <a:ea typeface="Poppins Medium"/>
                <a:cs typeface="Poppins Medium"/>
                <a:sym typeface="Poppins Medium"/>
              </a:rPr>
              <a:t>   Lift = 1.494</a:t>
            </a:r>
          </a:p>
          <a:p>
            <a:pPr algn="l" marL="683872" indent="-341936" lvl="1">
              <a:lnSpc>
                <a:spcPts val="4434"/>
              </a:lnSpc>
              <a:buFont typeface="Arial"/>
              <a:buChar char="•"/>
            </a:pPr>
            <a:r>
              <a:rPr lang="en-US" b="true" sz="3167">
                <a:solidFill>
                  <a:srgbClr val="000000"/>
                </a:solidFill>
                <a:latin typeface="Poppins Medium"/>
                <a:ea typeface="Poppins Medium"/>
                <a:cs typeface="Poppins Medium"/>
                <a:sym typeface="Poppins Medium"/>
              </a:rPr>
              <a:t>   Stability = 1.0</a:t>
            </a:r>
          </a:p>
          <a:p>
            <a:pPr algn="l" marL="683872" indent="-341936" lvl="1">
              <a:lnSpc>
                <a:spcPts val="4434"/>
              </a:lnSpc>
              <a:buFont typeface="Arial"/>
              <a:buChar char="•"/>
            </a:pPr>
            <a:r>
              <a:rPr lang="en-US" b="true" sz="3167">
                <a:solidFill>
                  <a:srgbClr val="000000"/>
                </a:solidFill>
                <a:latin typeface="Poppins Medium"/>
                <a:ea typeface="Poppins Medium"/>
                <a:cs typeface="Poppins Medium"/>
                <a:sym typeface="Poppins Medium"/>
              </a:rPr>
              <a:t>   Overall Score: 0.860 → better than previous best (0.842)</a:t>
            </a:r>
          </a:p>
        </p:txBody>
      </p:sp>
      <p:sp>
        <p:nvSpPr>
          <p:cNvPr name="TextBox 7" id="7"/>
          <p:cNvSpPr txBox="true"/>
          <p:nvPr/>
        </p:nvSpPr>
        <p:spPr>
          <a:xfrm rot="0">
            <a:off x="1028700" y="696913"/>
            <a:ext cx="6799801" cy="596900"/>
          </a:xfrm>
          <a:prstGeom prst="rect">
            <a:avLst/>
          </a:prstGeom>
        </p:spPr>
        <p:txBody>
          <a:bodyPr anchor="t" rtlCol="false" tIns="0" lIns="0" bIns="0" rIns="0">
            <a:spAutoFit/>
          </a:bodyPr>
          <a:lstStyle/>
          <a:p>
            <a:pPr algn="l">
              <a:lnSpc>
                <a:spcPts val="4900"/>
              </a:lnSpc>
            </a:pPr>
            <a:r>
              <a:rPr lang="en-US" sz="3500">
                <a:solidFill>
                  <a:srgbClr val="004AAD"/>
                </a:solidFill>
                <a:latin typeface="League Spartan"/>
                <a:ea typeface="League Spartan"/>
                <a:cs typeface="League Spartan"/>
                <a:sym typeface="League Spartan"/>
              </a:rPr>
              <a:t> DIFFERENT COMBINATION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graphicFrame>
        <p:nvGraphicFramePr>
          <p:cNvPr name="Object 6" id="6"/>
          <p:cNvGraphicFramePr/>
          <p:nvPr/>
        </p:nvGraphicFramePr>
        <p:xfrm>
          <a:off x="1154597" y="5030473"/>
          <a:ext cx="9429750" cy="3143250"/>
        </p:xfrm>
        <a:graphic>
          <a:graphicData uri="http://schemas.openxmlformats.org/presentationml/2006/ole">
            <p:oleObj imgW="11315700" imgH="5029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885540" y="1111812"/>
            <a:ext cx="15703786" cy="1030668"/>
          </a:xfrm>
          <a:prstGeom prst="rect">
            <a:avLst/>
          </a:prstGeom>
        </p:spPr>
        <p:txBody>
          <a:bodyPr anchor="t" rtlCol="false" tIns="0" lIns="0" bIns="0" rIns="0">
            <a:spAutoFit/>
          </a:bodyPr>
          <a:lstStyle/>
          <a:p>
            <a:pPr algn="l" marL="630968" indent="-315484" lvl="1">
              <a:lnSpc>
                <a:spcPts val="4091"/>
              </a:lnSpc>
              <a:buFont typeface="Arial"/>
              <a:buChar char="•"/>
            </a:pPr>
            <a:r>
              <a:rPr lang="en-US" b="true" sz="2922">
                <a:solidFill>
                  <a:srgbClr val="000000"/>
                </a:solidFill>
                <a:latin typeface="Poppins Medium"/>
                <a:ea typeface="Poppins Medium"/>
                <a:cs typeface="Poppins Medium"/>
                <a:sym typeface="Poppins Medium"/>
              </a:rPr>
              <a:t>km_3 Segmentation:</a:t>
            </a:r>
          </a:p>
          <a:p>
            <a:pPr algn="l">
              <a:lnSpc>
                <a:spcPts val="4091"/>
              </a:lnSpc>
              <a:spcBef>
                <a:spcPct val="0"/>
              </a:spcBef>
            </a:pPr>
          </a:p>
        </p:txBody>
      </p:sp>
      <p:sp>
        <p:nvSpPr>
          <p:cNvPr name="TextBox 8" id="8"/>
          <p:cNvSpPr txBox="true"/>
          <p:nvPr/>
        </p:nvSpPr>
        <p:spPr>
          <a:xfrm rot="0">
            <a:off x="1028700" y="307330"/>
            <a:ext cx="8449914" cy="1835150"/>
          </a:xfrm>
          <a:prstGeom prst="rect">
            <a:avLst/>
          </a:prstGeom>
        </p:spPr>
        <p:txBody>
          <a:bodyPr anchor="t" rtlCol="false" tIns="0" lIns="0" bIns="0" rIns="0">
            <a:spAutoFit/>
          </a:bodyPr>
          <a:lstStyle/>
          <a:p>
            <a:pPr algn="l">
              <a:lnSpc>
                <a:spcPts val="4900"/>
              </a:lnSpc>
            </a:pPr>
            <a:r>
              <a:rPr lang="en-US" sz="3500" b="true">
                <a:solidFill>
                  <a:srgbClr val="004AAD"/>
                </a:solidFill>
                <a:latin typeface="League Spartan"/>
                <a:ea typeface="League Spartan"/>
                <a:cs typeface="League Spartan"/>
                <a:sym typeface="League Spartan"/>
              </a:rPr>
              <a:t>CUSTOMER SEGMENTATION</a:t>
            </a:r>
          </a:p>
          <a:p>
            <a:pPr algn="l">
              <a:lnSpc>
                <a:spcPts val="4900"/>
              </a:lnSpc>
            </a:pPr>
          </a:p>
          <a:p>
            <a:pPr algn="l">
              <a:lnSpc>
                <a:spcPts val="4900"/>
              </a:lnSpc>
            </a:pPr>
          </a:p>
        </p:txBody>
      </p:sp>
      <p:sp>
        <p:nvSpPr>
          <p:cNvPr name="Freeform 9" id="9"/>
          <p:cNvSpPr/>
          <p:nvPr/>
        </p:nvSpPr>
        <p:spPr>
          <a:xfrm flipH="false" flipV="false" rot="0">
            <a:off x="1028700" y="1942078"/>
            <a:ext cx="10424961" cy="3088395"/>
          </a:xfrm>
          <a:custGeom>
            <a:avLst/>
            <a:gdLst/>
            <a:ahLst/>
            <a:cxnLst/>
            <a:rect r="r" b="b" t="t" l="l"/>
            <a:pathLst>
              <a:path h="3088395" w="10424961">
                <a:moveTo>
                  <a:pt x="0" y="0"/>
                </a:moveTo>
                <a:lnTo>
                  <a:pt x="10424961" y="0"/>
                </a:lnTo>
                <a:lnTo>
                  <a:pt x="10424961" y="3088395"/>
                </a:lnTo>
                <a:lnTo>
                  <a:pt x="0" y="3088395"/>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34785" y="1857536"/>
            <a:ext cx="3490895" cy="3285964"/>
          </a:xfrm>
          <a:custGeom>
            <a:avLst/>
            <a:gdLst/>
            <a:ahLst/>
            <a:cxnLst/>
            <a:rect r="r" b="b" t="t" l="l"/>
            <a:pathLst>
              <a:path h="3285964" w="3490895">
                <a:moveTo>
                  <a:pt x="0" y="0"/>
                </a:moveTo>
                <a:lnTo>
                  <a:pt x="3490896" y="0"/>
                </a:lnTo>
                <a:lnTo>
                  <a:pt x="3490896" y="3285964"/>
                </a:lnTo>
                <a:lnTo>
                  <a:pt x="0" y="3285964"/>
                </a:lnTo>
                <a:lnTo>
                  <a:pt x="0" y="0"/>
                </a:lnTo>
                <a:close/>
              </a:path>
            </a:pathLst>
          </a:custGeom>
          <a:blipFill>
            <a:blip r:embed="rId3"/>
            <a:stretch>
              <a:fillRect l="0" t="0" r="0" b="0"/>
            </a:stretch>
          </a:blipFill>
        </p:spPr>
      </p:sp>
      <p:sp>
        <p:nvSpPr>
          <p:cNvPr name="Freeform 7" id="7"/>
          <p:cNvSpPr/>
          <p:nvPr/>
        </p:nvSpPr>
        <p:spPr>
          <a:xfrm flipH="false" flipV="false" rot="0">
            <a:off x="1028700" y="5462790"/>
            <a:ext cx="4428342" cy="4999741"/>
          </a:xfrm>
          <a:custGeom>
            <a:avLst/>
            <a:gdLst/>
            <a:ahLst/>
            <a:cxnLst/>
            <a:rect r="r" b="b" t="t" l="l"/>
            <a:pathLst>
              <a:path h="4999741" w="4428342">
                <a:moveTo>
                  <a:pt x="0" y="0"/>
                </a:moveTo>
                <a:lnTo>
                  <a:pt x="4428342" y="0"/>
                </a:lnTo>
                <a:lnTo>
                  <a:pt x="4428342" y="4999740"/>
                </a:lnTo>
                <a:lnTo>
                  <a:pt x="0" y="4999740"/>
                </a:lnTo>
                <a:lnTo>
                  <a:pt x="0" y="0"/>
                </a:lnTo>
                <a:close/>
              </a:path>
            </a:pathLst>
          </a:custGeom>
          <a:blipFill>
            <a:blip r:embed="rId4"/>
            <a:stretch>
              <a:fillRect l="0" t="0" r="0" b="0"/>
            </a:stretch>
          </a:blipFill>
        </p:spPr>
      </p:sp>
      <p:graphicFrame>
        <p:nvGraphicFramePr>
          <p:cNvPr name="Object 8" id="8"/>
          <p:cNvGraphicFramePr/>
          <p:nvPr/>
        </p:nvGraphicFramePr>
        <p:xfrm>
          <a:off x="5599917" y="5705965"/>
          <a:ext cx="13681180" cy="4931626"/>
        </p:xfrm>
        <a:graphic>
          <a:graphicData uri="http://schemas.openxmlformats.org/presentationml/2006/ole">
            <p:oleObj imgW="16421100" imgH="76581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6012506" y="2712693"/>
            <a:ext cx="6262988" cy="1930373"/>
          </a:xfrm>
          <a:custGeom>
            <a:avLst/>
            <a:gdLst/>
            <a:ahLst/>
            <a:cxnLst/>
            <a:rect r="r" b="b" t="t" l="l"/>
            <a:pathLst>
              <a:path h="1930373" w="6262988">
                <a:moveTo>
                  <a:pt x="0" y="0"/>
                </a:moveTo>
                <a:lnTo>
                  <a:pt x="6262988" y="0"/>
                </a:lnTo>
                <a:lnTo>
                  <a:pt x="6262988" y="1930373"/>
                </a:lnTo>
                <a:lnTo>
                  <a:pt x="0" y="1930373"/>
                </a:lnTo>
                <a:lnTo>
                  <a:pt x="0" y="0"/>
                </a:lnTo>
                <a:close/>
              </a:path>
            </a:pathLst>
          </a:custGeom>
          <a:blipFill>
            <a:blip r:embed="rId7"/>
            <a:stretch>
              <a:fillRect l="0" t="0" r="0" b="0"/>
            </a:stretch>
          </a:blipFill>
        </p:spPr>
      </p:sp>
      <p:sp>
        <p:nvSpPr>
          <p:cNvPr name="TextBox 10" id="10"/>
          <p:cNvSpPr txBox="true"/>
          <p:nvPr/>
        </p:nvSpPr>
        <p:spPr>
          <a:xfrm rot="0">
            <a:off x="1028700" y="1271644"/>
            <a:ext cx="13074080" cy="870836"/>
          </a:xfrm>
          <a:prstGeom prst="rect">
            <a:avLst/>
          </a:prstGeom>
        </p:spPr>
        <p:txBody>
          <a:bodyPr anchor="t" rtlCol="false" tIns="0" lIns="0" bIns="0" rIns="0">
            <a:spAutoFit/>
          </a:bodyPr>
          <a:lstStyle/>
          <a:p>
            <a:pPr algn="l" marL="525308" indent="-262654" lvl="1">
              <a:lnSpc>
                <a:spcPts val="3406"/>
              </a:lnSpc>
              <a:buFont typeface="Arial"/>
              <a:buChar char="•"/>
            </a:pPr>
            <a:r>
              <a:rPr lang="en-US" b="true" sz="2433">
                <a:solidFill>
                  <a:srgbClr val="000000"/>
                </a:solidFill>
                <a:latin typeface="Poppins Medium"/>
                <a:ea typeface="Poppins Medium"/>
                <a:cs typeface="Poppins Medium"/>
                <a:sym typeface="Poppins Medium"/>
              </a:rPr>
              <a:t>km_3 Segmentation:</a:t>
            </a:r>
          </a:p>
          <a:p>
            <a:pPr algn="l">
              <a:lnSpc>
                <a:spcPts val="3406"/>
              </a:lnSpc>
              <a:spcBef>
                <a:spcPct val="0"/>
              </a:spcBef>
            </a:pPr>
          </a:p>
        </p:txBody>
      </p:sp>
      <p:sp>
        <p:nvSpPr>
          <p:cNvPr name="TextBox 11" id="11"/>
          <p:cNvSpPr txBox="true"/>
          <p:nvPr/>
        </p:nvSpPr>
        <p:spPr>
          <a:xfrm rot="0">
            <a:off x="1224763" y="307330"/>
            <a:ext cx="8449914" cy="1835150"/>
          </a:xfrm>
          <a:prstGeom prst="rect">
            <a:avLst/>
          </a:prstGeom>
        </p:spPr>
        <p:txBody>
          <a:bodyPr anchor="t" rtlCol="false" tIns="0" lIns="0" bIns="0" rIns="0">
            <a:spAutoFit/>
          </a:bodyPr>
          <a:lstStyle/>
          <a:p>
            <a:pPr algn="l">
              <a:lnSpc>
                <a:spcPts val="4900"/>
              </a:lnSpc>
            </a:pPr>
            <a:r>
              <a:rPr lang="en-US" sz="3500" b="true">
                <a:solidFill>
                  <a:srgbClr val="004AAD"/>
                </a:solidFill>
                <a:latin typeface="League Spartan"/>
                <a:ea typeface="League Spartan"/>
                <a:cs typeface="League Spartan"/>
                <a:sym typeface="League Spartan"/>
              </a:rPr>
              <a:t>CUSTOMER SEGMENTATION</a:t>
            </a:r>
          </a:p>
          <a:p>
            <a:pPr algn="l">
              <a:lnSpc>
                <a:spcPts val="4900"/>
              </a:lnSpc>
            </a:pPr>
          </a:p>
          <a:p>
            <a:pPr algn="l">
              <a:lnSpc>
                <a:spcPts val="4900"/>
              </a:lnSpc>
            </a:pPr>
          </a:p>
        </p:txBody>
      </p:sp>
      <p:sp>
        <p:nvSpPr>
          <p:cNvPr name="TextBox 12" id="12"/>
          <p:cNvSpPr txBox="true"/>
          <p:nvPr/>
        </p:nvSpPr>
        <p:spPr>
          <a:xfrm rot="0">
            <a:off x="5599917" y="8658340"/>
            <a:ext cx="11470436" cy="1142770"/>
          </a:xfrm>
          <a:prstGeom prst="rect">
            <a:avLst/>
          </a:prstGeom>
        </p:spPr>
        <p:txBody>
          <a:bodyPr anchor="t" rtlCol="false" tIns="0" lIns="0" bIns="0" rIns="0">
            <a:spAutoFit/>
          </a:bodyPr>
          <a:lstStyle/>
          <a:p>
            <a:pPr algn="l">
              <a:lnSpc>
                <a:spcPts val="2722"/>
              </a:lnSpc>
            </a:pPr>
            <a:r>
              <a:rPr lang="en-US" sz="1944" b="true">
                <a:solidFill>
                  <a:srgbClr val="000000"/>
                </a:solidFill>
                <a:latin typeface="Poppins Medium"/>
                <a:ea typeface="Poppins Medium"/>
                <a:cs typeface="Poppins Medium"/>
                <a:sym typeface="Poppins Medium"/>
              </a:rPr>
              <a:t>all clusters are more than 10% of the dataset, so there is no outlier cluster.</a:t>
            </a:r>
          </a:p>
          <a:p>
            <a:pPr algn="l">
              <a:lnSpc>
                <a:spcPts val="2722"/>
              </a:lnSpc>
            </a:pPr>
            <a:r>
              <a:rPr lang="en-US" sz="1944" b="true">
                <a:solidFill>
                  <a:srgbClr val="000000"/>
                </a:solidFill>
                <a:latin typeface="Poppins Medium"/>
                <a:ea typeface="Poppins Medium"/>
                <a:cs typeface="Poppins Medium"/>
                <a:sym typeface="Poppins Medium"/>
              </a:rPr>
              <a:t> the smallest cluster is Cluster 2 with 814 customers, and it is greater than 10% of the dataset.</a:t>
            </a:r>
          </a:p>
          <a:p>
            <a:pPr algn="l">
              <a:lnSpc>
                <a:spcPts val="3602"/>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805473"/>
            <a:ext cx="15703786" cy="2573718"/>
          </a:xfrm>
          <a:prstGeom prst="rect">
            <a:avLst/>
          </a:prstGeom>
        </p:spPr>
        <p:txBody>
          <a:bodyPr anchor="t" rtlCol="false" tIns="0" lIns="0" bIns="0" rIns="0">
            <a:spAutoFit/>
          </a:bodyPr>
          <a:lstStyle/>
          <a:p>
            <a:pPr algn="l" marL="630968" indent="-315484" lvl="1">
              <a:lnSpc>
                <a:spcPts val="4091"/>
              </a:lnSpc>
              <a:buFont typeface="Arial"/>
              <a:buChar char="•"/>
            </a:pPr>
            <a:r>
              <a:rPr lang="en-US" b="true" sz="2922">
                <a:solidFill>
                  <a:srgbClr val="000000"/>
                </a:solidFill>
                <a:latin typeface="Poppins Medium"/>
                <a:ea typeface="Poppins Medium"/>
                <a:cs typeface="Poppins Medium"/>
                <a:sym typeface="Poppins Medium"/>
              </a:rPr>
              <a:t>Different DT models were compared using accuracy and simplicity</a:t>
            </a:r>
          </a:p>
          <a:p>
            <a:pPr algn="l" marL="630968" indent="-315484" lvl="1">
              <a:lnSpc>
                <a:spcPts val="4091"/>
              </a:lnSpc>
              <a:buFont typeface="Arial"/>
              <a:buChar char="•"/>
            </a:pPr>
            <a:r>
              <a:rPr lang="en-US" b="true" sz="2922">
                <a:solidFill>
                  <a:srgbClr val="000000"/>
                </a:solidFill>
                <a:latin typeface="Poppins Medium"/>
                <a:ea typeface="Poppins Medium"/>
                <a:cs typeface="Poppins Medium"/>
                <a:sym typeface="Poppins Medium"/>
              </a:rPr>
              <a:t>Simplicity was measured using the number of leaves after pruning</a:t>
            </a:r>
          </a:p>
          <a:p>
            <a:pPr algn="l" marL="630968" indent="-315484" lvl="1">
              <a:lnSpc>
                <a:spcPts val="4091"/>
              </a:lnSpc>
              <a:buFont typeface="Arial"/>
              <a:buChar char="•"/>
            </a:pPr>
            <a:r>
              <a:rPr lang="en-US" b="true" sz="2922">
                <a:solidFill>
                  <a:srgbClr val="000000"/>
                </a:solidFill>
                <a:latin typeface="Poppins Medium"/>
                <a:ea typeface="Poppins Medium"/>
                <a:cs typeface="Poppins Medium"/>
                <a:sym typeface="Poppins Medium"/>
              </a:rPr>
              <a:t>CHAID_2 and Gini_2 achieved the highest overall score (0.9680)</a:t>
            </a:r>
          </a:p>
          <a:p>
            <a:pPr algn="l" marL="630968" indent="-315484" lvl="1">
              <a:lnSpc>
                <a:spcPts val="4091"/>
              </a:lnSpc>
              <a:buFont typeface="Arial"/>
              <a:buChar char="•"/>
            </a:pPr>
            <a:r>
              <a:rPr lang="en-US" b="true" sz="2922">
                <a:solidFill>
                  <a:srgbClr val="000000"/>
                </a:solidFill>
                <a:latin typeface="Poppins Medium"/>
                <a:ea typeface="Poppins Medium"/>
                <a:cs typeface="Poppins Medium"/>
                <a:sym typeface="Poppins Medium"/>
              </a:rPr>
              <a:t>Both models gave good accuracy with simpler tree structures</a:t>
            </a:r>
          </a:p>
          <a:p>
            <a:pPr algn="l" marL="630968" indent="-315484" lvl="1">
              <a:lnSpc>
                <a:spcPts val="4091"/>
              </a:lnSpc>
              <a:spcBef>
                <a:spcPct val="0"/>
              </a:spcBef>
              <a:buFont typeface="Arial"/>
              <a:buChar char="•"/>
            </a:pPr>
            <a:r>
              <a:rPr lang="en-US" b="true" sz="2922">
                <a:solidFill>
                  <a:srgbClr val="000000"/>
                </a:solidFill>
                <a:latin typeface="Poppins Medium"/>
                <a:ea typeface="Poppins Medium"/>
                <a:cs typeface="Poppins Medium"/>
                <a:sym typeface="Poppins Medium"/>
              </a:rPr>
              <a:t>Simpler trees performed better than deeper trees</a:t>
            </a:r>
          </a:p>
        </p:txBody>
      </p:sp>
      <p:sp>
        <p:nvSpPr>
          <p:cNvPr name="TextBox 7" id="7"/>
          <p:cNvSpPr txBox="true"/>
          <p:nvPr/>
        </p:nvSpPr>
        <p:spPr>
          <a:xfrm rot="0">
            <a:off x="1028700" y="696913"/>
            <a:ext cx="7851893" cy="1216025"/>
          </a:xfrm>
          <a:prstGeom prst="rect">
            <a:avLst/>
          </a:prstGeom>
        </p:spPr>
        <p:txBody>
          <a:bodyPr anchor="t" rtlCol="false" tIns="0" lIns="0" bIns="0" rIns="0">
            <a:spAutoFit/>
          </a:bodyPr>
          <a:lstStyle/>
          <a:p>
            <a:pPr algn="l">
              <a:lnSpc>
                <a:spcPts val="4900"/>
              </a:lnSpc>
            </a:pPr>
            <a:r>
              <a:rPr lang="en-US" b="true" sz="3500">
                <a:solidFill>
                  <a:srgbClr val="004AAD"/>
                </a:solidFill>
                <a:latin typeface="League Spartan"/>
                <a:ea typeface="League Spartan"/>
                <a:cs typeface="League Spartan"/>
                <a:sym typeface="League Spartan"/>
              </a:rPr>
              <a:t>DECISION TREE COMPARISON</a:t>
            </a:r>
          </a:p>
          <a:p>
            <a:pPr algn="l">
              <a:lnSpc>
                <a:spcPts val="4900"/>
              </a:lnSpc>
            </a:pPr>
          </a:p>
        </p:txBody>
      </p:sp>
      <p:sp>
        <p:nvSpPr>
          <p:cNvPr name="TextBox 8" id="8"/>
          <p:cNvSpPr txBox="true"/>
          <p:nvPr/>
        </p:nvSpPr>
        <p:spPr>
          <a:xfrm rot="0">
            <a:off x="1028700" y="6981920"/>
            <a:ext cx="15703786" cy="1030668"/>
          </a:xfrm>
          <a:prstGeom prst="rect">
            <a:avLst/>
          </a:prstGeom>
        </p:spPr>
        <p:txBody>
          <a:bodyPr anchor="t" rtlCol="false" tIns="0" lIns="0" bIns="0" rIns="0">
            <a:spAutoFit/>
          </a:bodyPr>
          <a:lstStyle/>
          <a:p>
            <a:pPr algn="l" marL="630968" indent="-315484" lvl="1">
              <a:lnSpc>
                <a:spcPts val="4091"/>
              </a:lnSpc>
              <a:buFont typeface="Arial"/>
              <a:buChar char="•"/>
            </a:pPr>
            <a:r>
              <a:rPr lang="en-US" b="true" sz="2922">
                <a:solidFill>
                  <a:srgbClr val="000000"/>
                </a:solidFill>
                <a:latin typeface="Poppins Medium"/>
                <a:ea typeface="Poppins Medium"/>
                <a:cs typeface="Poppins Medium"/>
                <a:sym typeface="Poppins Medium"/>
              </a:rPr>
              <a:t>CHAID_2 → 0.9680</a:t>
            </a:r>
          </a:p>
          <a:p>
            <a:pPr algn="l" marL="630968" indent="-315484" lvl="1">
              <a:lnSpc>
                <a:spcPts val="4091"/>
              </a:lnSpc>
              <a:spcBef>
                <a:spcPct val="0"/>
              </a:spcBef>
              <a:buFont typeface="Arial"/>
              <a:buChar char="•"/>
            </a:pPr>
            <a:r>
              <a:rPr lang="en-US" b="true" sz="2922">
                <a:solidFill>
                  <a:srgbClr val="000000"/>
                </a:solidFill>
                <a:latin typeface="Poppins Medium"/>
                <a:ea typeface="Poppins Medium"/>
                <a:cs typeface="Poppins Medium"/>
                <a:sym typeface="Poppins Medium"/>
              </a:rPr>
              <a:t>Gini_2 → 0.9680</a:t>
            </a:r>
          </a:p>
        </p:txBody>
      </p:sp>
      <p:sp>
        <p:nvSpPr>
          <p:cNvPr name="TextBox 9" id="9"/>
          <p:cNvSpPr txBox="true"/>
          <p:nvPr/>
        </p:nvSpPr>
        <p:spPr>
          <a:xfrm rot="0">
            <a:off x="1028700" y="5842095"/>
            <a:ext cx="7851893" cy="1216025"/>
          </a:xfrm>
          <a:prstGeom prst="rect">
            <a:avLst/>
          </a:prstGeom>
        </p:spPr>
        <p:txBody>
          <a:bodyPr anchor="t" rtlCol="false" tIns="0" lIns="0" bIns="0" rIns="0">
            <a:spAutoFit/>
          </a:bodyPr>
          <a:lstStyle/>
          <a:p>
            <a:pPr algn="l">
              <a:lnSpc>
                <a:spcPts val="4900"/>
              </a:lnSpc>
            </a:pPr>
            <a:r>
              <a:rPr lang="en-US" b="true" sz="3500">
                <a:solidFill>
                  <a:srgbClr val="004AAD"/>
                </a:solidFill>
                <a:latin typeface="League Spartan"/>
                <a:ea typeface="League Spartan"/>
                <a:cs typeface="League Spartan"/>
                <a:sym typeface="League Spartan"/>
              </a:rPr>
              <a:t>BEST MODELS</a:t>
            </a:r>
          </a:p>
          <a:p>
            <a:pPr algn="l">
              <a:lnSpc>
                <a:spcPts val="490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907167" y="-599593"/>
            <a:ext cx="6792707" cy="12124765"/>
            <a:chOff x="0" y="0"/>
            <a:chExt cx="1789026" cy="3193354"/>
          </a:xfrm>
        </p:grpSpPr>
        <p:sp>
          <p:nvSpPr>
            <p:cNvPr name="Freeform 4" id="4"/>
            <p:cNvSpPr/>
            <p:nvPr/>
          </p:nvSpPr>
          <p:spPr>
            <a:xfrm flipH="false" flipV="false" rot="0">
              <a:off x="0" y="0"/>
              <a:ext cx="1789026" cy="3193354"/>
            </a:xfrm>
            <a:custGeom>
              <a:avLst/>
              <a:gdLst/>
              <a:ahLst/>
              <a:cxnLst/>
              <a:rect r="r" b="b" t="t" l="l"/>
              <a:pathLst>
                <a:path h="3193354" w="1789026">
                  <a:moveTo>
                    <a:pt x="0" y="0"/>
                  </a:moveTo>
                  <a:lnTo>
                    <a:pt x="1789026" y="0"/>
                  </a:lnTo>
                  <a:lnTo>
                    <a:pt x="1789026" y="3193354"/>
                  </a:lnTo>
                  <a:lnTo>
                    <a:pt x="0" y="3193354"/>
                  </a:lnTo>
                  <a:close/>
                </a:path>
              </a:pathLst>
            </a:custGeom>
            <a:solidFill>
              <a:srgbClr val="004AAD"/>
            </a:solidFill>
          </p:spPr>
        </p:sp>
        <p:sp>
          <p:nvSpPr>
            <p:cNvPr name="TextBox 5" id="5"/>
            <p:cNvSpPr txBox="true"/>
            <p:nvPr/>
          </p:nvSpPr>
          <p:spPr>
            <a:xfrm>
              <a:off x="0" y="-47625"/>
              <a:ext cx="1789026" cy="324097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256075"/>
            <a:ext cx="12449786" cy="4483780"/>
          </a:xfrm>
          <a:prstGeom prst="rect">
            <a:avLst/>
          </a:prstGeom>
        </p:spPr>
        <p:txBody>
          <a:bodyPr anchor="t" rtlCol="false" tIns="0" lIns="0" bIns="0" rIns="0">
            <a:spAutoFit/>
          </a:bodyPr>
          <a:lstStyle/>
          <a:p>
            <a:pPr algn="l" marL="500225" indent="-250112" lvl="1">
              <a:lnSpc>
                <a:spcPts val="3243"/>
              </a:lnSpc>
              <a:buFont typeface="Arial"/>
              <a:buChar char="•"/>
            </a:pPr>
            <a:r>
              <a:rPr lang="en-US" b="true" sz="2316">
                <a:solidFill>
                  <a:srgbClr val="000000"/>
                </a:solidFill>
                <a:latin typeface="Poppins Bold"/>
                <a:ea typeface="Poppins Bold"/>
                <a:cs typeface="Poppins Bold"/>
                <a:sym typeface="Poppins Bold"/>
              </a:rPr>
              <a:t>Models tested:</a:t>
            </a:r>
            <a:r>
              <a:rPr lang="en-US" sz="2316">
                <a:solidFill>
                  <a:srgbClr val="000000"/>
                </a:solidFill>
                <a:latin typeface="Poppins"/>
                <a:ea typeface="Poppins"/>
                <a:cs typeface="Poppins"/>
                <a:sym typeface="Poppins"/>
              </a:rPr>
              <a:t> </a:t>
            </a:r>
            <a:r>
              <a:rPr lang="en-US" b="true" sz="2316">
                <a:solidFill>
                  <a:srgbClr val="000000"/>
                </a:solidFill>
                <a:latin typeface="Poppins Medium"/>
                <a:ea typeface="Poppins Medium"/>
                <a:cs typeface="Poppins Medium"/>
                <a:sym typeface="Poppins Medium"/>
              </a:rPr>
              <a:t>8 (2 vs 4 branches, min leaf size = 244)</a:t>
            </a:r>
          </a:p>
          <a:p>
            <a:pPr algn="l">
              <a:lnSpc>
                <a:spcPts val="3243"/>
              </a:lnSpc>
            </a:pPr>
          </a:p>
          <a:p>
            <a:pPr algn="l" marL="500225" indent="-250112" lvl="1">
              <a:lnSpc>
                <a:spcPts val="3243"/>
              </a:lnSpc>
              <a:buFont typeface="Arial"/>
              <a:buChar char="•"/>
            </a:pPr>
            <a:r>
              <a:rPr lang="en-US" b="true" sz="2316">
                <a:solidFill>
                  <a:srgbClr val="000000"/>
                </a:solidFill>
                <a:latin typeface="Poppins Bold"/>
                <a:ea typeface="Poppins Bold"/>
                <a:cs typeface="Poppins Bold"/>
                <a:sym typeface="Poppins Bold"/>
              </a:rPr>
              <a:t>Best models</a:t>
            </a:r>
            <a:r>
              <a:rPr lang="en-US" sz="2316">
                <a:solidFill>
                  <a:srgbClr val="000000"/>
                </a:solidFill>
                <a:latin typeface="Poppins"/>
                <a:ea typeface="Poppins"/>
                <a:cs typeface="Poppins"/>
                <a:sym typeface="Poppins"/>
              </a:rPr>
              <a:t> </a:t>
            </a:r>
            <a:r>
              <a:rPr lang="en-US" b="true" sz="2316">
                <a:solidFill>
                  <a:srgbClr val="000000"/>
                </a:solidFill>
                <a:latin typeface="Poppins Medium"/>
                <a:ea typeface="Poppins Medium"/>
                <a:cs typeface="Poppins Medium"/>
                <a:sym typeface="Poppins Medium"/>
              </a:rPr>
              <a:t>(Score = 0.8503):</a:t>
            </a:r>
          </a:p>
          <a:p>
            <a:pPr algn="l">
              <a:lnSpc>
                <a:spcPts val="3243"/>
              </a:lnSpc>
            </a:pPr>
            <a:r>
              <a:rPr lang="en-US" sz="2316" b="true">
                <a:solidFill>
                  <a:srgbClr val="000000"/>
                </a:solidFill>
                <a:latin typeface="Poppins Medium"/>
                <a:ea typeface="Poppins Medium"/>
                <a:cs typeface="Poppins Medium"/>
                <a:sym typeface="Poppins Medium"/>
              </a:rPr>
              <a:t>       </a:t>
            </a:r>
            <a:r>
              <a:rPr lang="en-US" sz="2316" b="true">
                <a:solidFill>
                  <a:srgbClr val="000000"/>
                </a:solidFill>
                <a:latin typeface="Poppins Medium"/>
                <a:ea typeface="Poppins Medium"/>
                <a:cs typeface="Poppins Medium"/>
                <a:sym typeface="Poppins Medium"/>
              </a:rPr>
              <a:t>· Entropy_2</a:t>
            </a:r>
          </a:p>
          <a:p>
            <a:pPr algn="l">
              <a:lnSpc>
                <a:spcPts val="3243"/>
              </a:lnSpc>
            </a:pPr>
            <a:r>
              <a:rPr lang="en-US" sz="2316" b="true">
                <a:solidFill>
                  <a:srgbClr val="000000"/>
                </a:solidFill>
                <a:latin typeface="Poppins Medium"/>
                <a:ea typeface="Poppins Medium"/>
                <a:cs typeface="Poppins Medium"/>
                <a:sym typeface="Poppins Medium"/>
              </a:rPr>
              <a:t>       </a:t>
            </a:r>
            <a:r>
              <a:rPr lang="en-US" sz="2316" b="true">
                <a:solidFill>
                  <a:srgbClr val="000000"/>
                </a:solidFill>
                <a:latin typeface="Poppins Medium"/>
                <a:ea typeface="Poppins Medium"/>
                <a:cs typeface="Poppins Medium"/>
                <a:sym typeface="Poppins Medium"/>
              </a:rPr>
              <a:t>· Gini_2</a:t>
            </a:r>
          </a:p>
          <a:p>
            <a:pPr algn="l">
              <a:lnSpc>
                <a:spcPts val="3243"/>
              </a:lnSpc>
            </a:pPr>
            <a:r>
              <a:rPr lang="en-US" sz="2316" b="true">
                <a:solidFill>
                  <a:srgbClr val="000000"/>
                </a:solidFill>
                <a:latin typeface="Poppins Medium"/>
                <a:ea typeface="Poppins Medium"/>
                <a:cs typeface="Poppins Medium"/>
                <a:sym typeface="Poppins Medium"/>
              </a:rPr>
              <a:t>       </a:t>
            </a:r>
            <a:r>
              <a:rPr lang="en-US" sz="2316" b="true">
                <a:solidFill>
                  <a:srgbClr val="000000"/>
                </a:solidFill>
                <a:latin typeface="Poppins Medium"/>
                <a:ea typeface="Poppins Medium"/>
                <a:cs typeface="Poppins Medium"/>
                <a:sym typeface="Poppins Medium"/>
              </a:rPr>
              <a:t>· InfoGain_2</a:t>
            </a:r>
          </a:p>
          <a:p>
            <a:pPr algn="l">
              <a:lnSpc>
                <a:spcPts val="3243"/>
              </a:lnSpc>
            </a:pPr>
            <a:r>
              <a:rPr lang="en-US" sz="2316" b="true">
                <a:solidFill>
                  <a:srgbClr val="000000"/>
                </a:solidFill>
                <a:latin typeface="Poppins Medium"/>
                <a:ea typeface="Poppins Medium"/>
                <a:cs typeface="Poppins Medium"/>
                <a:sym typeface="Poppins Medium"/>
              </a:rPr>
              <a:t>       </a:t>
            </a:r>
            <a:r>
              <a:rPr lang="en-US" sz="2316" b="true">
                <a:solidFill>
                  <a:srgbClr val="000000"/>
                </a:solidFill>
                <a:latin typeface="Poppins Medium"/>
                <a:ea typeface="Poppins Medium"/>
                <a:cs typeface="Poppins Medium"/>
                <a:sym typeface="Poppins Medium"/>
              </a:rPr>
              <a:t>· InfoGain_4</a:t>
            </a:r>
          </a:p>
          <a:p>
            <a:pPr algn="l">
              <a:lnSpc>
                <a:spcPts val="3243"/>
              </a:lnSpc>
            </a:pPr>
          </a:p>
          <a:p>
            <a:pPr algn="l" marL="500225" indent="-250112" lvl="1">
              <a:lnSpc>
                <a:spcPts val="3243"/>
              </a:lnSpc>
              <a:buFont typeface="Arial"/>
              <a:buChar char="•"/>
            </a:pPr>
            <a:r>
              <a:rPr lang="en-US" b="true" sz="2316">
                <a:solidFill>
                  <a:srgbClr val="000000"/>
                </a:solidFill>
                <a:latin typeface="Poppins Bold"/>
                <a:ea typeface="Poppins Bold"/>
                <a:cs typeface="Poppins Bold"/>
                <a:sym typeface="Poppins Bold"/>
              </a:rPr>
              <a:t>Key findings:</a:t>
            </a:r>
          </a:p>
          <a:p>
            <a:pPr algn="l">
              <a:lnSpc>
                <a:spcPts val="3243"/>
              </a:lnSpc>
            </a:pPr>
            <a:r>
              <a:rPr lang="en-US" sz="2316">
                <a:solidFill>
                  <a:srgbClr val="000000"/>
                </a:solidFill>
                <a:latin typeface="Poppins"/>
                <a:ea typeface="Poppins"/>
                <a:cs typeface="Poppins"/>
                <a:sym typeface="Poppins"/>
              </a:rPr>
              <a:t>         </a:t>
            </a:r>
            <a:r>
              <a:rPr lang="en-US" sz="2316" b="true">
                <a:solidFill>
                  <a:srgbClr val="000000"/>
                </a:solidFill>
                <a:latin typeface="Poppins Medium"/>
                <a:ea typeface="Poppins Medium"/>
                <a:cs typeface="Poppins Medium"/>
                <a:sym typeface="Poppins Medium"/>
              </a:rPr>
              <a:t>· 2-branch models performed better than 4-branch models</a:t>
            </a:r>
          </a:p>
          <a:p>
            <a:pPr algn="l">
              <a:lnSpc>
                <a:spcPts val="3243"/>
              </a:lnSpc>
              <a:spcBef>
                <a:spcPct val="0"/>
              </a:spcBef>
            </a:pPr>
            <a:r>
              <a:rPr lang="en-US" sz="2316" b="true">
                <a:solidFill>
                  <a:srgbClr val="000000"/>
                </a:solidFill>
                <a:latin typeface="Poppins Medium"/>
                <a:ea typeface="Poppins Medium"/>
                <a:cs typeface="Poppins Medium"/>
                <a:sym typeface="Poppins Medium"/>
              </a:rPr>
              <a:t>         </a:t>
            </a:r>
            <a:r>
              <a:rPr lang="en-US" sz="2316" b="true">
                <a:solidFill>
                  <a:srgbClr val="000000"/>
                </a:solidFill>
                <a:latin typeface="Poppins Medium"/>
                <a:ea typeface="Poppins Medium"/>
                <a:cs typeface="Poppins Medium"/>
                <a:sym typeface="Poppins Medium"/>
              </a:rPr>
              <a:t>· CHAID models had Lift = 0 → worst performance</a:t>
            </a:r>
          </a:p>
        </p:txBody>
      </p:sp>
      <p:sp>
        <p:nvSpPr>
          <p:cNvPr name="TextBox 7" id="7"/>
          <p:cNvSpPr txBox="true"/>
          <p:nvPr/>
        </p:nvSpPr>
        <p:spPr>
          <a:xfrm rot="0">
            <a:off x="1028700" y="431800"/>
            <a:ext cx="6799801" cy="596900"/>
          </a:xfrm>
          <a:prstGeom prst="rect">
            <a:avLst/>
          </a:prstGeom>
        </p:spPr>
        <p:txBody>
          <a:bodyPr anchor="t" rtlCol="false" tIns="0" lIns="0" bIns="0" rIns="0">
            <a:spAutoFit/>
          </a:bodyPr>
          <a:lstStyle/>
          <a:p>
            <a:pPr algn="l">
              <a:lnSpc>
                <a:spcPts val="4900"/>
              </a:lnSpc>
            </a:pPr>
            <a:r>
              <a:rPr lang="en-US" sz="3500">
                <a:solidFill>
                  <a:srgbClr val="004AAD"/>
                </a:solidFill>
                <a:latin typeface="League Spartan"/>
                <a:ea typeface="League Spartan"/>
                <a:cs typeface="League Spartan"/>
                <a:sym typeface="League Spartan"/>
              </a:rPr>
              <a:t>DT FOR CLUSTER ANALYSIS</a:t>
            </a:r>
          </a:p>
        </p:txBody>
      </p:sp>
      <p:sp>
        <p:nvSpPr>
          <p:cNvPr name="TextBox 8" id="8"/>
          <p:cNvSpPr txBox="true"/>
          <p:nvPr/>
        </p:nvSpPr>
        <p:spPr>
          <a:xfrm rot="0">
            <a:off x="1028700" y="6427309"/>
            <a:ext cx="6338689" cy="909808"/>
          </a:xfrm>
          <a:prstGeom prst="rect">
            <a:avLst/>
          </a:prstGeom>
        </p:spPr>
        <p:txBody>
          <a:bodyPr anchor="t" rtlCol="false" tIns="0" lIns="0" bIns="0" rIns="0">
            <a:spAutoFit/>
          </a:bodyPr>
          <a:lstStyle/>
          <a:p>
            <a:pPr algn="l">
              <a:lnSpc>
                <a:spcPts val="3675"/>
              </a:lnSpc>
            </a:pPr>
            <a:r>
              <a:rPr lang="en-US" sz="2625" b="true">
                <a:solidFill>
                  <a:srgbClr val="004AAD"/>
                </a:solidFill>
                <a:latin typeface="League Spartan"/>
                <a:ea typeface="League Spartan"/>
                <a:cs typeface="League Spartan"/>
                <a:sym typeface="League Spartan"/>
              </a:rPr>
              <a:t>COMPARISON WITH TASK 2</a:t>
            </a:r>
          </a:p>
          <a:p>
            <a:pPr algn="l">
              <a:lnSpc>
                <a:spcPts val="3675"/>
              </a:lnSpc>
            </a:pPr>
          </a:p>
        </p:txBody>
      </p:sp>
      <p:sp>
        <p:nvSpPr>
          <p:cNvPr name="TextBox 9" id="9"/>
          <p:cNvSpPr txBox="true"/>
          <p:nvPr/>
        </p:nvSpPr>
        <p:spPr>
          <a:xfrm rot="0">
            <a:off x="885540" y="7004911"/>
            <a:ext cx="12510429" cy="1637042"/>
          </a:xfrm>
          <a:prstGeom prst="rect">
            <a:avLst/>
          </a:prstGeom>
        </p:spPr>
        <p:txBody>
          <a:bodyPr anchor="t" rtlCol="false" tIns="0" lIns="0" bIns="0" rIns="0">
            <a:spAutoFit/>
          </a:bodyPr>
          <a:lstStyle/>
          <a:p>
            <a:pPr algn="l" marL="502661" indent="-251331" lvl="1">
              <a:lnSpc>
                <a:spcPts val="3259"/>
              </a:lnSpc>
              <a:buFont typeface="Arial"/>
              <a:buChar char="•"/>
            </a:pPr>
            <a:r>
              <a:rPr lang="en-US" b="true" sz="2328">
                <a:solidFill>
                  <a:srgbClr val="000000"/>
                </a:solidFill>
                <a:latin typeface="Poppins Medium"/>
                <a:ea typeface="Poppins Medium"/>
                <a:cs typeface="Poppins Medium"/>
                <a:sym typeface="Poppins Medium"/>
              </a:rPr>
              <a:t>In Task 2, all DT achieved the same accuracy of 0.9466.In Task 3, CHAID_2 and CHAID_4 achieved the highest accuracy of 0.7864.so,This shows that the DTs in Task 2 achieved higher accuracy than the DT from Task 3. </a:t>
            </a:r>
          </a:p>
          <a:p>
            <a:pPr algn="just">
              <a:lnSpc>
                <a:spcPts val="325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DAHKfLqMOPI</dc:identifier>
  <dcterms:modified xsi:type="dcterms:W3CDTF">2011-08-01T06:04:30Z</dcterms:modified>
  <cp:revision>1</cp:revision>
  <dc:title>Data Mining Presentation</dc:title>
</cp:coreProperties>
</file>